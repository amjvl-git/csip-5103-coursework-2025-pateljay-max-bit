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Maven Pro" charset="0"/>
      <p:regular r:id="rId15"/>
      <p:bold r:id="rId16"/>
    </p:embeddedFont>
    <p:embeddedFont>
      <p:font typeface="Nunito"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516" y="1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46127956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000"/>
              </a:spcBef>
              <a:spcAft>
                <a:spcPts val="1000"/>
              </a:spcAft>
              <a:buClr>
                <a:schemeClr val="dk1"/>
              </a:buClr>
              <a:buSzPts val="1100"/>
              <a:buFont typeface="Arial"/>
              <a:buNone/>
            </a:pPr>
            <a:r>
              <a:rPr lang="en">
                <a:solidFill>
                  <a:schemeClr val="dk1"/>
                </a:solidFill>
                <a:latin typeface="Times New Roman"/>
                <a:ea typeface="Times New Roman"/>
                <a:cs typeface="Times New Roman"/>
                <a:sym typeface="Times New Roman"/>
              </a:rPr>
              <a:t>The comparison shows the way the various network architectures treat spatial data and what the areas of confusion between similar classes, visually like shirts and coats, share.</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fa51e7934e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g2fa51e7934e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000"/>
              </a:spcBef>
              <a:spcAft>
                <a:spcPts val="10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slide has outlined the main goals of the project that involve the development and comparison of ANN and CNN models, the ability of the models to perform classification tasks and the fact that the CNN has a greater ability to detect the visual features successfully.</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a08221f63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g3a08221f63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000"/>
              </a:spcBef>
              <a:spcAft>
                <a:spcPts val="10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slide has outlined the general methodology adopted, such as preprocessing of the data, model implementation on both TensorFlow and Keras and model evaluation in terms of accuracy, loss and confusion matrix analysis to compare the performance of ANN and CNN models.</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3e31f2827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g33e31f28271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The slide has outlined the steps of the data set and preprocessing, including the application of the Fashion-MNIST data, normalisation, reshaping and encoding, and presumption of equal image size and balanced coverage of classes to allow the model to be trained correctly.</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4a4ebea1db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g34a4ebea1db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1300">
                <a:solidFill>
                  <a:schemeClr val="dk1"/>
                </a:solidFill>
                <a:latin typeface="Times New Roman"/>
                <a:ea typeface="Times New Roman"/>
                <a:cs typeface="Times New Roman"/>
                <a:sym typeface="Times New Roman"/>
              </a:rPr>
              <a:t>The parameters gave a trade-off between generalisation and the speed of convergence.</a:t>
            </a:r>
            <a:endParaRPr sz="7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9d0a5f8520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g39d0a5f8520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1300">
                <a:solidFill>
                  <a:schemeClr val="dk1"/>
                </a:solidFill>
                <a:latin typeface="Times New Roman"/>
                <a:ea typeface="Times New Roman"/>
                <a:cs typeface="Times New Roman"/>
                <a:sym typeface="Times New Roman"/>
              </a:rPr>
              <a:t>It was able to identify the majority of the classes but had some confusion between the shirt and pullover, owing to their mate visual textures.</a:t>
            </a:r>
            <a:endParaRPr sz="7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a08221f63a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3a08221f63a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Although ANN was trained quickly and used fewer hard powers, it did not have spatial recognition. CNN was more accurate, but it required more resources and time to train. The two models have good generalization, with CNN being more applicable to image tasks.</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a08221f63a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g3a08221f63a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The major findings have been explained in the slide, with CNN being more accurate, feature learning, and false identification, thus concluding that CNN outperforms ANN when it comes to tasks of recognition of fashion images.</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a08221f63a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g3a08221f63a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The slide has presented the possible future innovations, such as data augmentation, model tuning, and recognised the important resources necessary to implement deep learning, which include TensorFlow, Google Colab, and Fashion-MNIST.</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3e31f28271_1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3" name="Google Shape;343;g33e31f28271_1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000"/>
              </a:spcBef>
              <a:spcAft>
                <a:spcPts val="1000"/>
              </a:spcAft>
              <a:buClr>
                <a:schemeClr val="dk1"/>
              </a:buClr>
              <a:buSzPts val="1100"/>
              <a:buFont typeface="Arial"/>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3e50af837e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9" name="Google Shape;349;g33e50af837e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000"/>
              </a:spcBef>
              <a:spcAft>
                <a:spcPts val="1000"/>
              </a:spcAft>
              <a:buClr>
                <a:schemeClr val="dk1"/>
              </a:buClr>
              <a:buSzPts val="1100"/>
              <a:buFont typeface="Arial"/>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2"/>
              <a:chOff x="7343003" y="4453711"/>
              <a:chExt cx="316800" cy="688512"/>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
            <p:cNvSpPr/>
            <p:nvPr/>
          </p:nvSpPr>
          <p:spPr>
            <a:xfrm rot="-9830444">
              <a:off x="6469759" y="3480728"/>
              <a:ext cx="320148" cy="320148"/>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2"/>
              <p:cNvSpPr/>
              <p:nvPr/>
            </p:nvSpPr>
            <p:spPr>
              <a:xfrm rot="5400000">
                <a:off x="6954988" y="2930398"/>
                <a:ext cx="749700" cy="74970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 name="Google Shape;40;p2"/>
            <p:cNvSpPr/>
            <p:nvPr/>
          </p:nvSpPr>
          <p:spPr>
            <a:xfrm>
              <a:off x="5399840" y="356365"/>
              <a:ext cx="2577000" cy="257700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
            <p:cNvSpPr/>
            <p:nvPr/>
          </p:nvSpPr>
          <p:spPr>
            <a:xfrm rot="2043858">
              <a:off x="5503813" y="460310"/>
              <a:ext cx="2369480" cy="236948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6" name="Google Shape;46;p2"/>
          <p:cNvSpPr txBox="1">
            <a:spLocks noGrp="1"/>
          </p:cNvSpPr>
          <p:nvPr>
            <p:ph type="ctrTitle"/>
          </p:nvPr>
        </p:nvSpPr>
        <p:spPr>
          <a:xfrm>
            <a:off x="824000" y="1613813"/>
            <a:ext cx="4255500" cy="18729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
        <p:cNvGrpSpPr/>
        <p:nvPr/>
      </p:nvGrpSpPr>
      <p:grpSpPr>
        <a:xfrm>
          <a:off x="0" y="0"/>
          <a:ext cx="0" cy="0"/>
          <a:chOff x="0" y="0"/>
          <a:chExt cx="0" cy="0"/>
        </a:xfrm>
      </p:grpSpPr>
      <p:grpSp>
        <p:nvGrpSpPr>
          <p:cNvPr id="50" name="Google Shape;50;p3"/>
          <p:cNvGrpSpPr/>
          <p:nvPr/>
        </p:nvGrpSpPr>
        <p:grpSpPr>
          <a:xfrm>
            <a:off x="625966" y="299376"/>
            <a:ext cx="999312" cy="999312"/>
            <a:chOff x="348199" y="179450"/>
            <a:chExt cx="1116300" cy="1116300"/>
          </a:xfrm>
        </p:grpSpPr>
        <p:sp>
          <p:nvSpPr>
            <p:cNvPr id="51" name="Google Shape;51;p3"/>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3"/>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3" name="Google Shape;53;p3"/>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4" name="Google Shape;54;p3"/>
          <p:cNvSpPr txBox="1">
            <a:spLocks noGrp="1"/>
          </p:cNvSpPr>
          <p:nvPr>
            <p:ph type="body" idx="1"/>
          </p:nvPr>
        </p:nvSpPr>
        <p:spPr>
          <a:xfrm>
            <a:off x="1303800" y="1990050"/>
            <a:ext cx="7030500" cy="2541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5" name="Google Shape;55;p3"/>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56"/>
        <p:cNvGrpSpPr/>
        <p:nvPr/>
      </p:nvGrpSpPr>
      <p:grpSpPr>
        <a:xfrm>
          <a:off x="0" y="0"/>
          <a:ext cx="0" cy="0"/>
          <a:chOff x="0" y="0"/>
          <a:chExt cx="0" cy="0"/>
        </a:xfrm>
      </p:grpSpPr>
      <p:grpSp>
        <p:nvGrpSpPr>
          <p:cNvPr id="57" name="Google Shape;57;p4"/>
          <p:cNvGrpSpPr/>
          <p:nvPr/>
        </p:nvGrpSpPr>
        <p:grpSpPr>
          <a:xfrm>
            <a:off x="146769" y="3406"/>
            <a:ext cx="1233214" cy="1384535"/>
            <a:chOff x="146769" y="3406"/>
            <a:chExt cx="1233214" cy="1384535"/>
          </a:xfrm>
        </p:grpSpPr>
        <p:grpSp>
          <p:nvGrpSpPr>
            <p:cNvPr id="58" name="Google Shape;58;p4"/>
            <p:cNvGrpSpPr/>
            <p:nvPr/>
          </p:nvGrpSpPr>
          <p:grpSpPr>
            <a:xfrm>
              <a:off x="1063183" y="3406"/>
              <a:ext cx="316800" cy="688513"/>
              <a:chOff x="1063183" y="3406"/>
              <a:chExt cx="316800" cy="688513"/>
            </a:xfrm>
          </p:grpSpPr>
          <p:sp>
            <p:nvSpPr>
              <p:cNvPr id="59" name="Google Shape;59;p4"/>
              <p:cNvSpPr/>
              <p:nvPr/>
            </p:nvSpPr>
            <p:spPr>
              <a:xfrm rot="10800000">
                <a:off x="1063183" y="3419"/>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4"/>
              <p:cNvSpPr/>
              <p:nvPr/>
            </p:nvSpPr>
            <p:spPr>
              <a:xfrm rot="10800000">
                <a:off x="1063183" y="3406"/>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1" name="Google Shape;61;p4"/>
            <p:cNvGrpSpPr/>
            <p:nvPr/>
          </p:nvGrpSpPr>
          <p:grpSpPr>
            <a:xfrm>
              <a:off x="604976" y="3406"/>
              <a:ext cx="316800" cy="1036524"/>
              <a:chOff x="604976" y="3406"/>
              <a:chExt cx="316800" cy="1036524"/>
            </a:xfrm>
          </p:grpSpPr>
          <p:sp>
            <p:nvSpPr>
              <p:cNvPr id="62" name="Google Shape;62;p4"/>
              <p:cNvSpPr/>
              <p:nvPr/>
            </p:nvSpPr>
            <p:spPr>
              <a:xfrm rot="10800000">
                <a:off x="604976" y="3419"/>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4"/>
              <p:cNvSpPr/>
              <p:nvPr/>
            </p:nvSpPr>
            <p:spPr>
              <a:xfrm rot="10800000">
                <a:off x="604976" y="3430"/>
                <a:ext cx="316800" cy="1036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4"/>
              <p:cNvSpPr/>
              <p:nvPr/>
            </p:nvSpPr>
            <p:spPr>
              <a:xfrm rot="10800000">
                <a:off x="604976" y="3406"/>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5" name="Google Shape;65;p4"/>
            <p:cNvGrpSpPr/>
            <p:nvPr/>
          </p:nvGrpSpPr>
          <p:grpSpPr>
            <a:xfrm>
              <a:off x="146769" y="3406"/>
              <a:ext cx="316800" cy="1384535"/>
              <a:chOff x="146769" y="3406"/>
              <a:chExt cx="316800" cy="1384535"/>
            </a:xfrm>
          </p:grpSpPr>
          <p:sp>
            <p:nvSpPr>
              <p:cNvPr id="66" name="Google Shape;66;p4"/>
              <p:cNvSpPr/>
              <p:nvPr/>
            </p:nvSpPr>
            <p:spPr>
              <a:xfrm rot="10800000">
                <a:off x="146769" y="3419"/>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4"/>
              <p:cNvSpPr/>
              <p:nvPr/>
            </p:nvSpPr>
            <p:spPr>
              <a:xfrm rot="10800000">
                <a:off x="146769" y="3441"/>
                <a:ext cx="316800" cy="1384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4"/>
              <p:cNvSpPr/>
              <p:nvPr/>
            </p:nvSpPr>
            <p:spPr>
              <a:xfrm rot="10800000">
                <a:off x="146769" y="3430"/>
                <a:ext cx="316800" cy="1036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
              <p:cNvSpPr/>
              <p:nvPr/>
            </p:nvSpPr>
            <p:spPr>
              <a:xfrm rot="10800000">
                <a:off x="146769" y="3406"/>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0" name="Google Shape;70;p4"/>
          <p:cNvGrpSpPr/>
          <p:nvPr/>
        </p:nvGrpSpPr>
        <p:grpSpPr>
          <a:xfrm>
            <a:off x="6775084" y="2904008"/>
            <a:ext cx="2186147" cy="2239500"/>
            <a:chOff x="6775084" y="2904008"/>
            <a:chExt cx="2186147" cy="2239500"/>
          </a:xfrm>
        </p:grpSpPr>
        <p:grpSp>
          <p:nvGrpSpPr>
            <p:cNvPr id="71" name="Google Shape;71;p4"/>
            <p:cNvGrpSpPr/>
            <p:nvPr/>
          </p:nvGrpSpPr>
          <p:grpSpPr>
            <a:xfrm>
              <a:off x="6775084" y="4253708"/>
              <a:ext cx="409500" cy="889800"/>
              <a:chOff x="6775084" y="4253708"/>
              <a:chExt cx="409500" cy="889800"/>
            </a:xfrm>
          </p:grpSpPr>
          <p:sp>
            <p:nvSpPr>
              <p:cNvPr id="72" name="Google Shape;72;p4"/>
              <p:cNvSpPr/>
              <p:nvPr/>
            </p:nvSpPr>
            <p:spPr>
              <a:xfrm>
                <a:off x="6775084" y="4253708"/>
                <a:ext cx="409500" cy="8898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4"/>
              <p:cNvSpPr/>
              <p:nvPr/>
            </p:nvSpPr>
            <p:spPr>
              <a:xfrm>
                <a:off x="6775084" y="4703408"/>
                <a:ext cx="409500" cy="4401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 name="Google Shape;74;p4"/>
            <p:cNvGrpSpPr/>
            <p:nvPr/>
          </p:nvGrpSpPr>
          <p:grpSpPr>
            <a:xfrm>
              <a:off x="7367299" y="3804008"/>
              <a:ext cx="409500" cy="1339500"/>
              <a:chOff x="7367299" y="3804008"/>
              <a:chExt cx="409500" cy="1339500"/>
            </a:xfrm>
          </p:grpSpPr>
          <p:sp>
            <p:nvSpPr>
              <p:cNvPr id="75" name="Google Shape;75;p4"/>
              <p:cNvSpPr/>
              <p:nvPr/>
            </p:nvSpPr>
            <p:spPr>
              <a:xfrm>
                <a:off x="7367299" y="4253708"/>
                <a:ext cx="409500" cy="8898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4"/>
              <p:cNvSpPr/>
              <p:nvPr/>
            </p:nvSpPr>
            <p:spPr>
              <a:xfrm>
                <a:off x="7367299" y="3804008"/>
                <a:ext cx="409500" cy="1339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4"/>
              <p:cNvSpPr/>
              <p:nvPr/>
            </p:nvSpPr>
            <p:spPr>
              <a:xfrm>
                <a:off x="7367299" y="4703408"/>
                <a:ext cx="409500" cy="4401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8" name="Google Shape;78;p4"/>
            <p:cNvGrpSpPr/>
            <p:nvPr/>
          </p:nvGrpSpPr>
          <p:grpSpPr>
            <a:xfrm>
              <a:off x="7959516" y="3354008"/>
              <a:ext cx="409500" cy="1789500"/>
              <a:chOff x="7959516" y="3354008"/>
              <a:chExt cx="409500" cy="1789500"/>
            </a:xfrm>
          </p:grpSpPr>
          <p:sp>
            <p:nvSpPr>
              <p:cNvPr id="79" name="Google Shape;79;p4"/>
              <p:cNvSpPr/>
              <p:nvPr/>
            </p:nvSpPr>
            <p:spPr>
              <a:xfrm>
                <a:off x="7959516" y="4253708"/>
                <a:ext cx="409500" cy="8898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4"/>
              <p:cNvSpPr/>
              <p:nvPr/>
            </p:nvSpPr>
            <p:spPr>
              <a:xfrm>
                <a:off x="7959516" y="3354008"/>
                <a:ext cx="409500" cy="1789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4"/>
              <p:cNvSpPr/>
              <p:nvPr/>
            </p:nvSpPr>
            <p:spPr>
              <a:xfrm>
                <a:off x="7959516" y="3804008"/>
                <a:ext cx="409500" cy="1339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4"/>
              <p:cNvSpPr/>
              <p:nvPr/>
            </p:nvSpPr>
            <p:spPr>
              <a:xfrm>
                <a:off x="7959516" y="4703408"/>
                <a:ext cx="409500" cy="4401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3" name="Google Shape;83;p4"/>
            <p:cNvGrpSpPr/>
            <p:nvPr/>
          </p:nvGrpSpPr>
          <p:grpSpPr>
            <a:xfrm>
              <a:off x="8551731" y="2904008"/>
              <a:ext cx="409500" cy="2239500"/>
              <a:chOff x="8551731" y="2904008"/>
              <a:chExt cx="409500" cy="2239500"/>
            </a:xfrm>
          </p:grpSpPr>
          <p:sp>
            <p:nvSpPr>
              <p:cNvPr id="84" name="Google Shape;84;p4"/>
              <p:cNvSpPr/>
              <p:nvPr/>
            </p:nvSpPr>
            <p:spPr>
              <a:xfrm>
                <a:off x="8551731" y="4253708"/>
                <a:ext cx="409500" cy="8898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4"/>
              <p:cNvSpPr/>
              <p:nvPr/>
            </p:nvSpPr>
            <p:spPr>
              <a:xfrm>
                <a:off x="8551731" y="3354008"/>
                <a:ext cx="409500" cy="1789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4"/>
              <p:cNvSpPr/>
              <p:nvPr/>
            </p:nvSpPr>
            <p:spPr>
              <a:xfrm>
                <a:off x="8551731" y="3804008"/>
                <a:ext cx="409500" cy="1339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4"/>
              <p:cNvSpPr/>
              <p:nvPr/>
            </p:nvSpPr>
            <p:spPr>
              <a:xfrm>
                <a:off x="8551731" y="2904008"/>
                <a:ext cx="409500" cy="2239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4"/>
              <p:cNvSpPr/>
              <p:nvPr/>
            </p:nvSpPr>
            <p:spPr>
              <a:xfrm>
                <a:off x="8551731" y="4703408"/>
                <a:ext cx="409500" cy="4401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89" name="Google Shape;89;p4"/>
          <p:cNvSpPr txBox="1">
            <a:spLocks noGrp="1"/>
          </p:cNvSpPr>
          <p:nvPr>
            <p:ph type="title"/>
          </p:nvPr>
        </p:nvSpPr>
        <p:spPr>
          <a:xfrm>
            <a:off x="824000" y="1613825"/>
            <a:ext cx="5857800" cy="18729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5" name="Google Shape;95;p5"/>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3" name="Google Shape;103;p6"/>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9" name="Google Shape;109;p7"/>
          <p:cNvSpPr txBox="1">
            <a:spLocks noGrp="1"/>
          </p:cNvSpPr>
          <p:nvPr>
            <p:ph type="title"/>
          </p:nvPr>
        </p:nvSpPr>
        <p:spPr>
          <a:xfrm>
            <a:off x="1303800" y="598575"/>
            <a:ext cx="3312000" cy="1590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255"/>
            <a:ext cx="2267380" cy="2601741"/>
            <a:chOff x="6790514" y="1255"/>
            <a:chExt cx="2267380" cy="2601741"/>
          </a:xfrm>
        </p:grpSpPr>
        <p:grpSp>
          <p:nvGrpSpPr>
            <p:cNvPr id="114" name="Google Shape;114;p8"/>
            <p:cNvGrpSpPr/>
            <p:nvPr/>
          </p:nvGrpSpPr>
          <p:grpSpPr>
            <a:xfrm>
              <a:off x="7067536" y="1255"/>
              <a:ext cx="1990358" cy="1990303"/>
              <a:chOff x="7067536" y="1255"/>
              <a:chExt cx="1990358" cy="1990303"/>
            </a:xfrm>
          </p:grpSpPr>
          <p:sp>
            <p:nvSpPr>
              <p:cNvPr id="115" name="Google Shape;115;p8"/>
              <p:cNvSpPr/>
              <p:nvPr/>
            </p:nvSpPr>
            <p:spPr>
              <a:xfrm rot="-8648551">
                <a:off x="7594313" y="527721"/>
                <a:ext cx="937226" cy="937226"/>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8"/>
              <p:cNvSpPr/>
              <p:nvPr/>
            </p:nvSpPr>
            <p:spPr>
              <a:xfrm rot="-8649154">
                <a:off x="7349891" y="283705"/>
                <a:ext cx="1425647" cy="1425404"/>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8" name="Google Shape;118;p8"/>
            <p:cNvGrpSpPr/>
            <p:nvPr/>
          </p:nvGrpSpPr>
          <p:grpSpPr>
            <a:xfrm>
              <a:off x="8207126" y="1807997"/>
              <a:ext cx="795000" cy="795000"/>
              <a:chOff x="8207126" y="1807997"/>
              <a:chExt cx="795000" cy="795000"/>
            </a:xfrm>
          </p:grpSpPr>
          <p:sp>
            <p:nvSpPr>
              <p:cNvPr id="119" name="Google Shape;119;p8"/>
              <p:cNvSpPr/>
              <p:nvPr/>
            </p:nvSpPr>
            <p:spPr>
              <a:xfrm rot="2152054">
                <a:off x="8319942" y="1920813"/>
                <a:ext cx="569367" cy="569367"/>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8"/>
              <p:cNvSpPr/>
              <p:nvPr/>
            </p:nvSpPr>
            <p:spPr>
              <a:xfrm rot="2150259">
                <a:off x="8408218" y="2008610"/>
                <a:ext cx="393004" cy="393004"/>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25" name="Google Shape;125;p8"/>
          <p:cNvSpPr txBox="1">
            <a:spLocks noGrp="1"/>
          </p:cNvSpPr>
          <p:nvPr>
            <p:ph type="title"/>
          </p:nvPr>
        </p:nvSpPr>
        <p:spPr>
          <a:xfrm>
            <a:off x="824000" y="763600"/>
            <a:ext cx="5857800" cy="35733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1" name="Google Shape;131;p9"/>
          <p:cNvSpPr txBox="1">
            <a:spLocks noGrp="1"/>
          </p:cNvSpPr>
          <p:nvPr>
            <p:ph type="title"/>
          </p:nvPr>
        </p:nvSpPr>
        <p:spPr>
          <a:xfrm>
            <a:off x="1303800" y="598575"/>
            <a:ext cx="3430500" cy="1990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9" name="Google Shape;139;p10"/>
          <p:cNvSpPr txBox="1">
            <a:spLocks noGrp="1"/>
          </p:cNvSpPr>
          <p:nvPr>
            <p:ph type="body" idx="1"/>
          </p:nvPr>
        </p:nvSpPr>
        <p:spPr>
          <a:xfrm>
            <a:off x="1303800" y="4138975"/>
            <a:ext cx="5843100" cy="534900"/>
          </a:xfrm>
          <a:prstGeom prst="rect">
            <a:avLst/>
          </a:prstGeom>
          <a:noFill/>
          <a:ln>
            <a:noFill/>
          </a:ln>
        </p:spPr>
        <p:txBody>
          <a:bodyPr spcFirstLastPara="1" wrap="square" lIns="91425" tIns="91425" rIns="91425" bIns="91425" anchor="t"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8000"/>
              <a:buNone/>
              <a:defRPr sz="8000">
                <a:solidFill>
                  <a:schemeClr val="lt1"/>
                </a:solidFill>
              </a:defRPr>
            </a:lvl1pPr>
            <a:lvl2pPr lvl="1" algn="ctr">
              <a:lnSpc>
                <a:spcPct val="100000"/>
              </a:lnSpc>
              <a:spcBef>
                <a:spcPts val="0"/>
              </a:spcBef>
              <a:spcAft>
                <a:spcPts val="0"/>
              </a:spcAft>
              <a:buClr>
                <a:schemeClr val="lt1"/>
              </a:buClr>
              <a:buSzPts val="8000"/>
              <a:buNone/>
              <a:defRPr sz="8000">
                <a:solidFill>
                  <a:schemeClr val="lt1"/>
                </a:solidFill>
              </a:defRPr>
            </a:lvl2pPr>
            <a:lvl3pPr lvl="2" algn="ctr">
              <a:lnSpc>
                <a:spcPct val="100000"/>
              </a:lnSpc>
              <a:spcBef>
                <a:spcPts val="0"/>
              </a:spcBef>
              <a:spcAft>
                <a:spcPts val="0"/>
              </a:spcAft>
              <a:buClr>
                <a:schemeClr val="lt1"/>
              </a:buClr>
              <a:buSzPts val="8000"/>
              <a:buNone/>
              <a:defRPr sz="8000">
                <a:solidFill>
                  <a:schemeClr val="lt1"/>
                </a:solidFill>
              </a:defRPr>
            </a:lvl3pPr>
            <a:lvl4pPr lvl="3" algn="ctr">
              <a:lnSpc>
                <a:spcPct val="100000"/>
              </a:lnSpc>
              <a:spcBef>
                <a:spcPts val="0"/>
              </a:spcBef>
              <a:spcAft>
                <a:spcPts val="0"/>
              </a:spcAft>
              <a:buClr>
                <a:schemeClr val="lt1"/>
              </a:buClr>
              <a:buSzPts val="8000"/>
              <a:buNone/>
              <a:defRPr sz="8000">
                <a:solidFill>
                  <a:schemeClr val="lt1"/>
                </a:solidFill>
              </a:defRPr>
            </a:lvl4pPr>
            <a:lvl5pPr lvl="4" algn="ctr">
              <a:lnSpc>
                <a:spcPct val="100000"/>
              </a:lnSpc>
              <a:spcBef>
                <a:spcPts val="0"/>
              </a:spcBef>
              <a:spcAft>
                <a:spcPts val="0"/>
              </a:spcAft>
              <a:buClr>
                <a:schemeClr val="lt1"/>
              </a:buClr>
              <a:buSzPts val="8000"/>
              <a:buNone/>
              <a:defRPr sz="8000">
                <a:solidFill>
                  <a:schemeClr val="lt1"/>
                </a:solidFill>
              </a:defRPr>
            </a:lvl5pPr>
            <a:lvl6pPr lvl="5" algn="ctr">
              <a:lnSpc>
                <a:spcPct val="100000"/>
              </a:lnSpc>
              <a:spcBef>
                <a:spcPts val="0"/>
              </a:spcBef>
              <a:spcAft>
                <a:spcPts val="0"/>
              </a:spcAft>
              <a:buClr>
                <a:schemeClr val="lt1"/>
              </a:buClr>
              <a:buSzPts val="8000"/>
              <a:buNone/>
              <a:defRPr sz="8000">
                <a:solidFill>
                  <a:schemeClr val="lt1"/>
                </a:solidFill>
              </a:defRPr>
            </a:lvl6pPr>
            <a:lvl7pPr lvl="6" algn="ctr">
              <a:lnSpc>
                <a:spcPct val="100000"/>
              </a:lnSpc>
              <a:spcBef>
                <a:spcPts val="0"/>
              </a:spcBef>
              <a:spcAft>
                <a:spcPts val="0"/>
              </a:spcAft>
              <a:buClr>
                <a:schemeClr val="lt1"/>
              </a:buClr>
              <a:buSzPts val="8000"/>
              <a:buNone/>
              <a:defRPr sz="8000">
                <a:solidFill>
                  <a:schemeClr val="lt1"/>
                </a:solidFill>
              </a:defRPr>
            </a:lvl7pPr>
            <a:lvl8pPr lvl="7" algn="ctr">
              <a:lnSpc>
                <a:spcPct val="100000"/>
              </a:lnSpc>
              <a:spcBef>
                <a:spcPts val="0"/>
              </a:spcBef>
              <a:spcAft>
                <a:spcPts val="0"/>
              </a:spcAft>
              <a:buClr>
                <a:schemeClr val="lt1"/>
              </a:buClr>
              <a:buSzPts val="8000"/>
              <a:buNone/>
              <a:defRPr sz="8000">
                <a:solidFill>
                  <a:schemeClr val="lt1"/>
                </a:solidFill>
              </a:defRPr>
            </a:lvl8pPr>
            <a:lvl9pPr lvl="8" algn="ctr">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a:noFill/>
          <a:ln>
            <a:noFill/>
          </a:ln>
        </p:spPr>
        <p:txBody>
          <a:bodyPr spcFirstLastPara="1" wrap="square" lIns="91425" tIns="91425" rIns="91425" bIns="91425" anchor="t" anchorCtr="0">
            <a:normAutofit/>
          </a:bodyPr>
          <a:lstStyle>
            <a:lvl1pPr marL="457200" lvl="0" indent="-311150" algn="ctr">
              <a:lnSpc>
                <a:spcPct val="115000"/>
              </a:lnSpc>
              <a:spcBef>
                <a:spcPts val="0"/>
              </a:spcBef>
              <a:spcAft>
                <a:spcPts val="0"/>
              </a:spcAft>
              <a:buClr>
                <a:schemeClr val="lt1"/>
              </a:buClr>
              <a:buSzPts val="1300"/>
              <a:buChar char="●"/>
              <a:defRPr>
                <a:solidFill>
                  <a:schemeClr val="lt1"/>
                </a:solidFill>
              </a:defRPr>
            </a:lvl1pPr>
            <a:lvl2pPr marL="914400" lvl="1" indent="-298450" algn="ctr">
              <a:lnSpc>
                <a:spcPct val="115000"/>
              </a:lnSpc>
              <a:spcBef>
                <a:spcPts val="0"/>
              </a:spcBef>
              <a:spcAft>
                <a:spcPts val="0"/>
              </a:spcAft>
              <a:buClr>
                <a:schemeClr val="lt1"/>
              </a:buClr>
              <a:buSzPts val="1100"/>
              <a:buChar char="○"/>
              <a:defRPr>
                <a:solidFill>
                  <a:schemeClr val="lt1"/>
                </a:solidFill>
              </a:defRPr>
            </a:lvl2pPr>
            <a:lvl3pPr marL="1371600" lvl="2" indent="-298450" algn="ctr">
              <a:lnSpc>
                <a:spcPct val="115000"/>
              </a:lnSpc>
              <a:spcBef>
                <a:spcPts val="0"/>
              </a:spcBef>
              <a:spcAft>
                <a:spcPts val="0"/>
              </a:spcAft>
              <a:buClr>
                <a:schemeClr val="lt1"/>
              </a:buClr>
              <a:buSzPts val="1100"/>
              <a:buChar char="■"/>
              <a:defRPr>
                <a:solidFill>
                  <a:schemeClr val="lt1"/>
                </a:solidFill>
              </a:defRPr>
            </a:lvl3pPr>
            <a:lvl4pPr marL="1828800" lvl="3" indent="-298450" algn="ctr">
              <a:lnSpc>
                <a:spcPct val="115000"/>
              </a:lnSpc>
              <a:spcBef>
                <a:spcPts val="0"/>
              </a:spcBef>
              <a:spcAft>
                <a:spcPts val="0"/>
              </a:spcAft>
              <a:buClr>
                <a:schemeClr val="lt1"/>
              </a:buClr>
              <a:buSzPts val="1100"/>
              <a:buChar char="●"/>
              <a:defRPr>
                <a:solidFill>
                  <a:schemeClr val="lt1"/>
                </a:solidFill>
              </a:defRPr>
            </a:lvl4pPr>
            <a:lvl5pPr marL="2286000" lvl="4" indent="-298450" algn="ctr">
              <a:lnSpc>
                <a:spcPct val="115000"/>
              </a:lnSpc>
              <a:spcBef>
                <a:spcPts val="0"/>
              </a:spcBef>
              <a:spcAft>
                <a:spcPts val="0"/>
              </a:spcAft>
              <a:buClr>
                <a:schemeClr val="lt1"/>
              </a:buClr>
              <a:buSzPts val="1100"/>
              <a:buChar char="○"/>
              <a:defRPr>
                <a:solidFill>
                  <a:schemeClr val="lt1"/>
                </a:solidFill>
              </a:defRPr>
            </a:lvl5pPr>
            <a:lvl6pPr marL="2743200" lvl="5" indent="-298450" algn="ctr">
              <a:lnSpc>
                <a:spcPct val="115000"/>
              </a:lnSpc>
              <a:spcBef>
                <a:spcPts val="0"/>
              </a:spcBef>
              <a:spcAft>
                <a:spcPts val="0"/>
              </a:spcAft>
              <a:buClr>
                <a:schemeClr val="lt1"/>
              </a:buClr>
              <a:buSzPts val="1100"/>
              <a:buChar char="■"/>
              <a:defRPr>
                <a:solidFill>
                  <a:schemeClr val="lt1"/>
                </a:solidFill>
              </a:defRPr>
            </a:lvl6pPr>
            <a:lvl7pPr marL="3200400" lvl="6" indent="-298450" algn="ctr">
              <a:lnSpc>
                <a:spcPct val="115000"/>
              </a:lnSpc>
              <a:spcBef>
                <a:spcPts val="0"/>
              </a:spcBef>
              <a:spcAft>
                <a:spcPts val="0"/>
              </a:spcAft>
              <a:buClr>
                <a:schemeClr val="lt1"/>
              </a:buClr>
              <a:buSzPts val="1100"/>
              <a:buChar char="●"/>
              <a:defRPr>
                <a:solidFill>
                  <a:schemeClr val="lt1"/>
                </a:solidFill>
              </a:defRPr>
            </a:lvl7pPr>
            <a:lvl8pPr marL="3657600" lvl="7" indent="-298450" algn="ctr">
              <a:lnSpc>
                <a:spcPct val="115000"/>
              </a:lnSpc>
              <a:spcBef>
                <a:spcPts val="0"/>
              </a:spcBef>
              <a:spcAft>
                <a:spcPts val="0"/>
              </a:spcAft>
              <a:buClr>
                <a:schemeClr val="lt1"/>
              </a:buClr>
              <a:buSzPts val="1100"/>
              <a:buChar char="○"/>
              <a:defRPr>
                <a:solidFill>
                  <a:schemeClr val="lt1"/>
                </a:solidFill>
              </a:defRPr>
            </a:lvl8pPr>
            <a:lvl9pPr marL="4114800" lvl="8" indent="-298450" algn="ctr">
              <a:lnSpc>
                <a:spcPct val="115000"/>
              </a:lnSpc>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1pPr>
            <a:lvl2pPr marR="0" lvl="1"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2pPr>
            <a:lvl3pPr marR="0" lvl="2"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3pPr>
            <a:lvl4pPr marR="0" lvl="3"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4pPr>
            <a:lvl5pPr marR="0" lvl="4"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5pPr>
            <a:lvl6pPr marR="0" lvl="5"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6pPr>
            <a:lvl7pPr marR="0" lvl="6"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7pPr>
            <a:lvl8pPr marR="0" lvl="7"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8pPr>
            <a:lvl9pPr marR="0" lvl="8"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1pPr>
            <a:lvl2pPr marL="914400" marR="0" lvl="1"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2pPr>
            <a:lvl3pPr marL="1371600" marR="0" lvl="2"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5pPr>
            <a:lvl6pPr marL="2743200" marR="0" lvl="5"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6pPr>
            <a:lvl7pPr marL="3200400" marR="0" lvl="6"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7pPr>
            <a:lvl8pPr marL="3657600" marR="0" lvl="7"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8pPr>
            <a:lvl9pPr marL="4114800" marR="0" lvl="8"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311708" y="1436050"/>
            <a:ext cx="8520600" cy="2052600"/>
          </a:xfrm>
          <a:prstGeom prst="rect">
            <a:avLst/>
          </a:prstGeom>
          <a:noFill/>
          <a:ln>
            <a:noFill/>
          </a:ln>
        </p:spPr>
        <p:txBody>
          <a:bodyPr spcFirstLastPara="1" wrap="square" lIns="91425" tIns="91425" rIns="91425" bIns="91425" anchor="ctr" anchorCtr="0">
            <a:normAutofit fontScale="90000"/>
          </a:bodyPr>
          <a:lstStyle/>
          <a:p>
            <a:pPr algn="ctr" rtl="0"/>
            <a:r>
              <a:rPr lang="en-IN" sz="1800" b="1" i="0" u="none" strike="noStrike" dirty="0">
                <a:solidFill>
                  <a:schemeClr val="bg1"/>
                </a:solidFill>
                <a:effectLst/>
                <a:latin typeface="Times New Roman" panose="02020603050405020304" pitchFamily="18" charset="0"/>
              </a:rPr>
              <a:t>Module Name - Artificial Neural Networks &amp; NLP</a:t>
            </a:r>
            <a:r>
              <a:rPr lang="en-IN" sz="1600" b="1" dirty="0">
                <a:solidFill>
                  <a:schemeClr val="bg1"/>
                </a:solidFill>
                <a:effectLst/>
              </a:rPr>
              <a:t/>
            </a:r>
            <a:br>
              <a:rPr lang="en-IN" sz="1600" b="1" dirty="0">
                <a:solidFill>
                  <a:schemeClr val="bg1"/>
                </a:solidFill>
                <a:effectLst/>
              </a:rPr>
            </a:br>
            <a:r>
              <a:rPr lang="en-IN" sz="1600" dirty="0">
                <a:solidFill>
                  <a:schemeClr val="bg1"/>
                </a:solidFill>
              </a:rPr>
              <a:t/>
            </a:r>
            <a:br>
              <a:rPr lang="en-IN" sz="1600" dirty="0">
                <a:solidFill>
                  <a:schemeClr val="bg1"/>
                </a:solidFill>
              </a:rPr>
            </a:br>
            <a:r>
              <a:rPr lang="en-IN" sz="1600" dirty="0">
                <a:solidFill>
                  <a:schemeClr val="bg1"/>
                </a:solidFill>
              </a:rPr>
              <a:t/>
            </a:r>
            <a:br>
              <a:rPr lang="en-IN" sz="1600" dirty="0">
                <a:solidFill>
                  <a:schemeClr val="bg1"/>
                </a:solidFill>
              </a:rPr>
            </a:br>
            <a:r>
              <a:rPr lang="en-IN" sz="1800" b="1" i="0" u="none" strike="noStrike" dirty="0">
                <a:solidFill>
                  <a:schemeClr val="bg1"/>
                </a:solidFill>
                <a:effectLst/>
                <a:latin typeface="Times New Roman" panose="02020603050405020304" pitchFamily="18" charset="0"/>
              </a:rPr>
              <a:t>Module Code - CSIP5103</a:t>
            </a:r>
            <a:r>
              <a:rPr lang="en-IN" sz="1600" dirty="0">
                <a:solidFill>
                  <a:schemeClr val="bg1"/>
                </a:solidFill>
                <a:effectLst/>
              </a:rPr>
              <a:t/>
            </a:r>
            <a:br>
              <a:rPr lang="en-IN" sz="1600" dirty="0">
                <a:solidFill>
                  <a:schemeClr val="bg1"/>
                </a:solidFill>
                <a:effectLst/>
              </a:rPr>
            </a:br>
            <a:r>
              <a:rPr lang="en-IN" sz="1600" dirty="0">
                <a:solidFill>
                  <a:schemeClr val="bg1"/>
                </a:solidFill>
              </a:rPr>
              <a:t/>
            </a:r>
            <a:br>
              <a:rPr lang="en-IN" sz="1600" dirty="0">
                <a:solidFill>
                  <a:schemeClr val="bg1"/>
                </a:solidFill>
              </a:rPr>
            </a:br>
            <a:r>
              <a:rPr lang="en-IN" sz="1600" dirty="0">
                <a:solidFill>
                  <a:schemeClr val="bg1"/>
                </a:solidFill>
              </a:rPr>
              <a:t/>
            </a:r>
            <a:br>
              <a:rPr lang="en-IN" sz="1600" dirty="0">
                <a:solidFill>
                  <a:schemeClr val="bg1"/>
                </a:solidFill>
              </a:rPr>
            </a:br>
            <a:r>
              <a:rPr lang="en-IN" sz="1800" b="1" i="0" u="none" strike="noStrike" dirty="0">
                <a:solidFill>
                  <a:schemeClr val="bg1"/>
                </a:solidFill>
                <a:effectLst/>
                <a:latin typeface="Times New Roman" panose="02020603050405020304" pitchFamily="18" charset="0"/>
              </a:rPr>
              <a:t>A Neural Network Model for Fashion-MNIST </a:t>
            </a:r>
            <a:r>
              <a:rPr lang="en-IN" sz="1600" dirty="0">
                <a:solidFill>
                  <a:schemeClr val="bg1"/>
                </a:solidFill>
                <a:effectLst/>
              </a:rPr>
              <a:t/>
            </a:r>
            <a:br>
              <a:rPr lang="en-IN" sz="1600" dirty="0">
                <a:solidFill>
                  <a:schemeClr val="bg1"/>
                </a:solidFill>
                <a:effectLst/>
              </a:rPr>
            </a:br>
            <a:r>
              <a:rPr lang="en-IN" sz="1800" b="1" i="0" u="none" strike="noStrike" dirty="0">
                <a:solidFill>
                  <a:schemeClr val="bg1"/>
                </a:solidFill>
                <a:effectLst/>
                <a:latin typeface="Times New Roman" panose="02020603050405020304" pitchFamily="18" charset="0"/>
              </a:rPr>
              <a:t>Image Classification – Presentation </a:t>
            </a:r>
            <a:r>
              <a:rPr lang="en-IN" sz="1600" dirty="0">
                <a:solidFill>
                  <a:schemeClr val="bg1"/>
                </a:solidFill>
                <a:effectLst/>
              </a:rPr>
              <a:t/>
            </a:r>
            <a:br>
              <a:rPr lang="en-IN" sz="1600" dirty="0">
                <a:solidFill>
                  <a:schemeClr val="bg1"/>
                </a:solidFill>
                <a:effectLst/>
              </a:rPr>
            </a:br>
            <a:r>
              <a:rPr lang="en-IN" sz="1600" dirty="0">
                <a:solidFill>
                  <a:schemeClr val="bg1"/>
                </a:solidFill>
              </a:rPr>
              <a:t/>
            </a:r>
            <a:br>
              <a:rPr lang="en-IN" sz="1600" dirty="0">
                <a:solidFill>
                  <a:schemeClr val="bg1"/>
                </a:solidFill>
              </a:rPr>
            </a:br>
            <a:r>
              <a:rPr lang="en-IN" sz="1600" dirty="0">
                <a:solidFill>
                  <a:schemeClr val="bg1"/>
                </a:solidFill>
              </a:rPr>
              <a:t/>
            </a:r>
            <a:br>
              <a:rPr lang="en-IN" sz="1600" dirty="0">
                <a:solidFill>
                  <a:schemeClr val="bg1"/>
                </a:solidFill>
              </a:rPr>
            </a:br>
            <a:r>
              <a:rPr lang="en-IN" sz="1800" b="1" i="0" u="none" strike="noStrike" dirty="0">
                <a:solidFill>
                  <a:schemeClr val="bg1"/>
                </a:solidFill>
                <a:effectLst/>
                <a:latin typeface="Times New Roman" panose="02020603050405020304" pitchFamily="18" charset="0"/>
              </a:rPr>
              <a:t>Student ID - P2938154 </a:t>
            </a:r>
            <a:r>
              <a:rPr lang="en-IN" sz="1600" dirty="0">
                <a:solidFill>
                  <a:schemeClr val="bg1"/>
                </a:solidFill>
                <a:effectLst/>
              </a:rPr>
              <a:t/>
            </a:r>
            <a:br>
              <a:rPr lang="en-IN" sz="1600" dirty="0">
                <a:solidFill>
                  <a:schemeClr val="bg1"/>
                </a:solidFill>
                <a:effectLst/>
              </a:rPr>
            </a:br>
            <a:r>
              <a:rPr lang="en-IN" sz="1600" dirty="0">
                <a:solidFill>
                  <a:schemeClr val="bg1"/>
                </a:solidFill>
              </a:rPr>
              <a:t/>
            </a:r>
            <a:br>
              <a:rPr lang="en-IN" sz="1600" dirty="0">
                <a:solidFill>
                  <a:schemeClr val="bg1"/>
                </a:solidFill>
              </a:rPr>
            </a:br>
            <a:r>
              <a:rPr lang="en-IN" sz="1600" dirty="0">
                <a:solidFill>
                  <a:schemeClr val="bg1"/>
                </a:solidFill>
              </a:rPr>
              <a:t/>
            </a:r>
            <a:br>
              <a:rPr lang="en-IN" sz="1600" dirty="0">
                <a:solidFill>
                  <a:schemeClr val="bg1"/>
                </a:solidFill>
              </a:rPr>
            </a:br>
            <a:r>
              <a:rPr lang="en-IN" sz="1800" b="1" i="0" u="none" strike="noStrike" dirty="0">
                <a:solidFill>
                  <a:schemeClr val="bg1"/>
                </a:solidFill>
                <a:effectLst/>
                <a:latin typeface="Times New Roman" panose="02020603050405020304" pitchFamily="18" charset="0"/>
              </a:rPr>
              <a:t>Student Name - Patel jay </a:t>
            </a:r>
            <a:r>
              <a:rPr lang="en-IN" sz="1800" b="1" i="0" u="none" strike="noStrike" dirty="0" err="1">
                <a:solidFill>
                  <a:schemeClr val="bg1"/>
                </a:solidFill>
                <a:effectLst/>
                <a:latin typeface="Times New Roman" panose="02020603050405020304" pitchFamily="18" charset="0"/>
              </a:rPr>
              <a:t>Maheshkumar</a:t>
            </a:r>
            <a:r>
              <a:rPr lang="en-IN" sz="1600" dirty="0">
                <a:solidFill>
                  <a:schemeClr val="bg1"/>
                </a:solidFill>
                <a:effectLst/>
              </a:rPr>
              <a:t/>
            </a:r>
            <a:br>
              <a:rPr lang="en-IN" sz="1600" dirty="0">
                <a:solidFill>
                  <a:schemeClr val="bg1"/>
                </a:solidFill>
                <a:effectLst/>
              </a:rPr>
            </a:br>
            <a:r>
              <a:rPr lang="en-IN" sz="1600" dirty="0"/>
              <a:t/>
            </a:r>
            <a:br>
              <a:rPr lang="en-IN" sz="1600" dirty="0"/>
            </a:br>
            <a:r>
              <a:rPr lang="en-IN" sz="3500" dirty="0">
                <a:latin typeface="Times New Roman"/>
                <a:ea typeface="Times New Roman"/>
                <a:cs typeface="Times New Roman"/>
                <a:sym typeface="Times New Roman"/>
              </a:rPr>
              <a:t/>
            </a:r>
            <a:br>
              <a:rPr lang="en-IN" sz="3500" dirty="0">
                <a:latin typeface="Times New Roman"/>
                <a:ea typeface="Times New Roman"/>
                <a:cs typeface="Times New Roman"/>
                <a:sym typeface="Times New Roman"/>
              </a:rPr>
            </a:br>
            <a:endParaRPr sz="35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4"/>
          <p:cNvSpPr txBox="1">
            <a:spLocks noGrp="1"/>
          </p:cNvSpPr>
          <p:nvPr>
            <p:ph type="title"/>
          </p:nvPr>
        </p:nvSpPr>
        <p:spPr>
          <a:xfrm>
            <a:off x="1303800" y="76175"/>
            <a:ext cx="7030500" cy="6069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50000"/>
              </a:lnSpc>
              <a:spcBef>
                <a:spcPts val="0"/>
              </a:spcBef>
              <a:spcAft>
                <a:spcPts val="0"/>
              </a:spcAft>
              <a:buSzPts val="2800"/>
              <a:buNone/>
            </a:pPr>
            <a:r>
              <a:rPr lang="en" sz="2500">
                <a:solidFill>
                  <a:srgbClr val="000000"/>
                </a:solidFill>
                <a:latin typeface="Times New Roman"/>
                <a:ea typeface="Times New Roman"/>
                <a:cs typeface="Times New Roman"/>
                <a:sym typeface="Times New Roman"/>
              </a:rPr>
              <a:t>Introduction</a:t>
            </a:r>
            <a:endParaRPr sz="2500">
              <a:solidFill>
                <a:srgbClr val="000000"/>
              </a:solidFill>
              <a:latin typeface="Times New Roman"/>
              <a:ea typeface="Times New Roman"/>
              <a:cs typeface="Times New Roman"/>
              <a:sym typeface="Times New Roman"/>
            </a:endParaRPr>
          </a:p>
        </p:txBody>
      </p:sp>
      <p:sp>
        <p:nvSpPr>
          <p:cNvPr id="283" name="Google Shape;283;p14"/>
          <p:cNvSpPr txBox="1">
            <a:spLocks noGrp="1"/>
          </p:cNvSpPr>
          <p:nvPr>
            <p:ph type="body" idx="1"/>
          </p:nvPr>
        </p:nvSpPr>
        <p:spPr>
          <a:xfrm>
            <a:off x="522300" y="1125000"/>
            <a:ext cx="8099400" cy="4018500"/>
          </a:xfrm>
          <a:prstGeom prst="rect">
            <a:avLst/>
          </a:prstGeom>
          <a:noFill/>
          <a:ln>
            <a:noFill/>
          </a:ln>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Clr>
                <a:srgbClr val="000000"/>
              </a:buClr>
              <a:buSzPts val="2000"/>
              <a:buFont typeface="Times New Roman"/>
              <a:buChar char="●"/>
            </a:pPr>
            <a:r>
              <a:rPr lang="en" sz="2000">
                <a:solidFill>
                  <a:srgbClr val="000000"/>
                </a:solidFill>
                <a:latin typeface="Times New Roman"/>
                <a:ea typeface="Times New Roman"/>
                <a:cs typeface="Times New Roman"/>
                <a:sym typeface="Times New Roman"/>
              </a:rPr>
              <a:t>This report provides the technical application of image classification with the help of the “Fashion-MNIST dataset”, which provides grayscale images of clothing elements of ten categories. </a:t>
            </a:r>
            <a:endParaRPr sz="2000">
              <a:solidFill>
                <a:srgbClr val="000000"/>
              </a:solidFill>
              <a:latin typeface="Times New Roman"/>
              <a:ea typeface="Times New Roman"/>
              <a:cs typeface="Times New Roman"/>
              <a:sym typeface="Times New Roman"/>
            </a:endParaRPr>
          </a:p>
          <a:p>
            <a:pPr marL="457200" lvl="0" indent="-355600" algn="just" rtl="0">
              <a:lnSpc>
                <a:spcPct val="150000"/>
              </a:lnSpc>
              <a:spcBef>
                <a:spcPts val="0"/>
              </a:spcBef>
              <a:spcAft>
                <a:spcPts val="0"/>
              </a:spcAft>
              <a:buClr>
                <a:srgbClr val="000000"/>
              </a:buClr>
              <a:buSzPts val="2000"/>
              <a:buFont typeface="Times New Roman"/>
              <a:buChar char="●"/>
            </a:pPr>
            <a:r>
              <a:rPr lang="en" sz="2000">
                <a:solidFill>
                  <a:srgbClr val="000000"/>
                </a:solidFill>
                <a:latin typeface="Times New Roman"/>
                <a:ea typeface="Times New Roman"/>
                <a:cs typeface="Times New Roman"/>
                <a:sym typeface="Times New Roman"/>
              </a:rPr>
              <a:t>Accurate classification of images by two models of deep learning, an “Artificial Neural Network (ANN)” and a “Convolutional Neural Network (CNN)”, are aimed to be designed, trained, and evaluated.</a:t>
            </a:r>
            <a:endParaRPr sz="20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5"/>
          <p:cNvSpPr txBox="1">
            <a:spLocks noGrp="1"/>
          </p:cNvSpPr>
          <p:nvPr>
            <p:ph type="title"/>
          </p:nvPr>
        </p:nvSpPr>
        <p:spPr>
          <a:xfrm>
            <a:off x="756400" y="61050"/>
            <a:ext cx="7760700" cy="6069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SzPts val="990"/>
              <a:buNone/>
            </a:pPr>
            <a:r>
              <a:rPr lang="en" sz="2350">
                <a:solidFill>
                  <a:srgbClr val="000000"/>
                </a:solidFill>
                <a:latin typeface="Times New Roman"/>
                <a:ea typeface="Times New Roman"/>
                <a:cs typeface="Times New Roman"/>
                <a:sym typeface="Times New Roman"/>
              </a:rPr>
              <a:t>Objectives / Goals</a:t>
            </a:r>
            <a:endParaRPr sz="2350">
              <a:solidFill>
                <a:srgbClr val="000000"/>
              </a:solidFill>
              <a:latin typeface="Times New Roman"/>
              <a:ea typeface="Times New Roman"/>
              <a:cs typeface="Times New Roman"/>
              <a:sym typeface="Times New Roman"/>
            </a:endParaRPr>
          </a:p>
          <a:p>
            <a:pPr marL="0" lvl="0" indent="0" algn="ctr" rtl="0">
              <a:lnSpc>
                <a:spcPct val="150000"/>
              </a:lnSpc>
              <a:spcBef>
                <a:spcPts val="0"/>
              </a:spcBef>
              <a:spcAft>
                <a:spcPts val="0"/>
              </a:spcAft>
              <a:buSzPts val="990"/>
              <a:buNone/>
            </a:pPr>
            <a:endParaRPr sz="2350">
              <a:solidFill>
                <a:srgbClr val="000000"/>
              </a:solidFill>
              <a:latin typeface="Times New Roman"/>
              <a:ea typeface="Times New Roman"/>
              <a:cs typeface="Times New Roman"/>
              <a:sym typeface="Times New Roman"/>
            </a:endParaRPr>
          </a:p>
        </p:txBody>
      </p:sp>
      <p:sp>
        <p:nvSpPr>
          <p:cNvPr id="289" name="Google Shape;289;p15"/>
          <p:cNvSpPr txBox="1">
            <a:spLocks noGrp="1"/>
          </p:cNvSpPr>
          <p:nvPr>
            <p:ph type="body" idx="1"/>
          </p:nvPr>
        </p:nvSpPr>
        <p:spPr>
          <a:xfrm>
            <a:off x="261300" y="871950"/>
            <a:ext cx="8621400" cy="4198200"/>
          </a:xfrm>
          <a:prstGeom prst="rect">
            <a:avLst/>
          </a:prstGeom>
          <a:noFill/>
          <a:ln>
            <a:noFill/>
          </a:ln>
        </p:spPr>
        <p:txBody>
          <a:bodyPr spcFirstLastPara="1" wrap="square" lIns="91425" tIns="91425" rIns="91425" bIns="91425" anchor="t" anchorCtr="0">
            <a:normAutofit/>
          </a:bodyPr>
          <a:lstStyle/>
          <a:p>
            <a:pPr marL="457200" lvl="0" indent="-339725" algn="just" rtl="0">
              <a:lnSpc>
                <a:spcPct val="150000"/>
              </a:lnSpc>
              <a:spcBef>
                <a:spcPts val="0"/>
              </a:spcBef>
              <a:spcAft>
                <a:spcPts val="0"/>
              </a:spcAft>
              <a:buClr>
                <a:srgbClr val="000000"/>
              </a:buClr>
              <a:buSzPts val="1750"/>
              <a:buFont typeface="Times New Roman"/>
              <a:buChar char="●"/>
            </a:pPr>
            <a:r>
              <a:rPr lang="en" sz="1750">
                <a:solidFill>
                  <a:srgbClr val="000000"/>
                </a:solidFill>
                <a:latin typeface="Times New Roman"/>
                <a:ea typeface="Times New Roman"/>
                <a:cs typeface="Times New Roman"/>
                <a:sym typeface="Times New Roman"/>
              </a:rPr>
              <a:t>To generate and contrast the Fashion-MNIST image classification Artificial Neural Network (ANN) and Convolutional Neural Network (CNN) models.</a:t>
            </a:r>
            <a:endParaRPr sz="1750">
              <a:solidFill>
                <a:srgbClr val="000000"/>
              </a:solidFill>
              <a:latin typeface="Times New Roman"/>
              <a:ea typeface="Times New Roman"/>
              <a:cs typeface="Times New Roman"/>
              <a:sym typeface="Times New Roman"/>
            </a:endParaRPr>
          </a:p>
          <a:p>
            <a:pPr marL="457200" lvl="0" indent="-339725" algn="just" rtl="0">
              <a:lnSpc>
                <a:spcPct val="150000"/>
              </a:lnSpc>
              <a:spcBef>
                <a:spcPts val="0"/>
              </a:spcBef>
              <a:spcAft>
                <a:spcPts val="0"/>
              </a:spcAft>
              <a:buClr>
                <a:srgbClr val="000000"/>
              </a:buClr>
              <a:buSzPts val="1750"/>
              <a:buFont typeface="Times New Roman"/>
              <a:buChar char="●"/>
            </a:pPr>
            <a:r>
              <a:rPr lang="en" sz="1750">
                <a:solidFill>
                  <a:srgbClr val="000000"/>
                </a:solidFill>
                <a:latin typeface="Times New Roman"/>
                <a:ea typeface="Times New Roman"/>
                <a:cs typeface="Times New Roman"/>
                <a:sym typeface="Times New Roman"/>
              </a:rPr>
              <a:t>To determine the accuracy of models, performance, and misclassification trends according to clothing category.</a:t>
            </a:r>
            <a:endParaRPr sz="1750">
              <a:solidFill>
                <a:srgbClr val="000000"/>
              </a:solidFill>
              <a:latin typeface="Times New Roman"/>
              <a:ea typeface="Times New Roman"/>
              <a:cs typeface="Times New Roman"/>
              <a:sym typeface="Times New Roman"/>
            </a:endParaRPr>
          </a:p>
          <a:p>
            <a:pPr marL="457200" lvl="0" indent="-339725" algn="just" rtl="0">
              <a:lnSpc>
                <a:spcPct val="150000"/>
              </a:lnSpc>
              <a:spcBef>
                <a:spcPts val="0"/>
              </a:spcBef>
              <a:spcAft>
                <a:spcPts val="0"/>
              </a:spcAft>
              <a:buClr>
                <a:srgbClr val="000000"/>
              </a:buClr>
              <a:buSzPts val="1750"/>
              <a:buFont typeface="Times New Roman"/>
              <a:buChar char="●"/>
            </a:pPr>
            <a:r>
              <a:rPr lang="en" sz="1750">
                <a:solidFill>
                  <a:srgbClr val="000000"/>
                </a:solidFill>
                <a:latin typeface="Times New Roman"/>
                <a:ea typeface="Times New Roman"/>
                <a:cs typeface="Times New Roman"/>
                <a:sym typeface="Times New Roman"/>
              </a:rPr>
              <a:t>To illustrate the best feature extraction that CNN has, and recommend how it can be improved to achieve better generalization and reliability.</a:t>
            </a:r>
            <a:endParaRPr sz="175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6"/>
          <p:cNvSpPr txBox="1">
            <a:spLocks noGrp="1"/>
          </p:cNvSpPr>
          <p:nvPr>
            <p:ph type="title"/>
          </p:nvPr>
        </p:nvSpPr>
        <p:spPr>
          <a:xfrm>
            <a:off x="756400" y="61050"/>
            <a:ext cx="7760700" cy="6069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SzPts val="990"/>
              <a:buNone/>
            </a:pPr>
            <a:r>
              <a:rPr lang="en" sz="2350">
                <a:solidFill>
                  <a:srgbClr val="000000"/>
                </a:solidFill>
                <a:latin typeface="Times New Roman"/>
                <a:ea typeface="Times New Roman"/>
                <a:cs typeface="Times New Roman"/>
                <a:sym typeface="Times New Roman"/>
              </a:rPr>
              <a:t>Methodology / Approach</a:t>
            </a:r>
            <a:endParaRPr sz="2350">
              <a:solidFill>
                <a:srgbClr val="000000"/>
              </a:solidFill>
              <a:latin typeface="Times New Roman"/>
              <a:ea typeface="Times New Roman"/>
              <a:cs typeface="Times New Roman"/>
              <a:sym typeface="Times New Roman"/>
            </a:endParaRPr>
          </a:p>
        </p:txBody>
      </p:sp>
      <p:sp>
        <p:nvSpPr>
          <p:cNvPr id="295" name="Google Shape;295;p16"/>
          <p:cNvSpPr txBox="1">
            <a:spLocks noGrp="1"/>
          </p:cNvSpPr>
          <p:nvPr>
            <p:ph type="body" idx="1"/>
          </p:nvPr>
        </p:nvSpPr>
        <p:spPr>
          <a:xfrm>
            <a:off x="261300" y="871950"/>
            <a:ext cx="5778600" cy="4198200"/>
          </a:xfrm>
          <a:prstGeom prst="rect">
            <a:avLst/>
          </a:prstGeom>
          <a:noFill/>
          <a:ln>
            <a:noFill/>
          </a:ln>
        </p:spPr>
        <p:txBody>
          <a:bodyPr spcFirstLastPara="1" wrap="square" lIns="91425" tIns="91425" rIns="91425" bIns="91425" anchor="t" anchorCtr="0">
            <a:normAutofit/>
          </a:bodyPr>
          <a:lstStyle/>
          <a:p>
            <a:pPr marL="457200" lvl="0" indent="-339725" algn="just" rtl="0">
              <a:lnSpc>
                <a:spcPct val="150000"/>
              </a:lnSpc>
              <a:spcBef>
                <a:spcPts val="0"/>
              </a:spcBef>
              <a:spcAft>
                <a:spcPts val="0"/>
              </a:spcAft>
              <a:buClr>
                <a:srgbClr val="000000"/>
              </a:buClr>
              <a:buSzPts val="1750"/>
              <a:buFont typeface="Times New Roman"/>
              <a:buChar char="●"/>
            </a:pPr>
            <a:r>
              <a:rPr lang="en" sz="1750">
                <a:solidFill>
                  <a:srgbClr val="000000"/>
                </a:solidFill>
                <a:latin typeface="Times New Roman"/>
                <a:ea typeface="Times New Roman"/>
                <a:cs typeface="Times New Roman"/>
                <a:sym typeface="Times New Roman"/>
              </a:rPr>
              <a:t>ANN and CNN models were implemented and trained on the Fashion-MNIST dataset with the utilisation of TensorFlow and Keras (Xhaferra et al. 2022).</a:t>
            </a:r>
            <a:endParaRPr sz="1750">
              <a:solidFill>
                <a:srgbClr val="000000"/>
              </a:solidFill>
              <a:latin typeface="Times New Roman"/>
              <a:ea typeface="Times New Roman"/>
              <a:cs typeface="Times New Roman"/>
              <a:sym typeface="Times New Roman"/>
            </a:endParaRPr>
          </a:p>
          <a:p>
            <a:pPr marL="457200" lvl="0" indent="-339725" algn="just" rtl="0">
              <a:lnSpc>
                <a:spcPct val="150000"/>
              </a:lnSpc>
              <a:spcBef>
                <a:spcPts val="0"/>
              </a:spcBef>
              <a:spcAft>
                <a:spcPts val="0"/>
              </a:spcAft>
              <a:buClr>
                <a:srgbClr val="000000"/>
              </a:buClr>
              <a:buSzPts val="1750"/>
              <a:buFont typeface="Times New Roman"/>
              <a:buChar char="●"/>
            </a:pPr>
            <a:r>
              <a:rPr lang="en" sz="1750">
                <a:solidFill>
                  <a:srgbClr val="000000"/>
                </a:solidFill>
                <a:latin typeface="Times New Roman"/>
                <a:ea typeface="Times New Roman"/>
                <a:cs typeface="Times New Roman"/>
                <a:sym typeface="Times New Roman"/>
              </a:rPr>
              <a:t>Normalisation, category encoding, and applied preprocessing to increase the performance of the models.</a:t>
            </a:r>
            <a:endParaRPr sz="1750">
              <a:solidFill>
                <a:srgbClr val="000000"/>
              </a:solidFill>
              <a:latin typeface="Times New Roman"/>
              <a:ea typeface="Times New Roman"/>
              <a:cs typeface="Times New Roman"/>
              <a:sym typeface="Times New Roman"/>
            </a:endParaRPr>
          </a:p>
          <a:p>
            <a:pPr marL="457200" lvl="0" indent="-339725" algn="just" rtl="0">
              <a:lnSpc>
                <a:spcPct val="150000"/>
              </a:lnSpc>
              <a:spcBef>
                <a:spcPts val="0"/>
              </a:spcBef>
              <a:spcAft>
                <a:spcPts val="0"/>
              </a:spcAft>
              <a:buClr>
                <a:srgbClr val="000000"/>
              </a:buClr>
              <a:buSzPts val="1750"/>
              <a:buFont typeface="Times New Roman"/>
              <a:buChar char="●"/>
            </a:pPr>
            <a:r>
              <a:rPr lang="en" sz="1750">
                <a:solidFill>
                  <a:srgbClr val="000000"/>
                </a:solidFill>
                <a:latin typeface="Times New Roman"/>
                <a:ea typeface="Times New Roman"/>
                <a:cs typeface="Times New Roman"/>
                <a:sym typeface="Times New Roman"/>
              </a:rPr>
              <a:t>Assessed accuracy, loss, and confusion tables to compare architectures and assessability of classification on the various fashion types.</a:t>
            </a:r>
            <a:endParaRPr sz="1750">
              <a:solidFill>
                <a:srgbClr val="000000"/>
              </a:solidFill>
              <a:latin typeface="Times New Roman"/>
              <a:ea typeface="Times New Roman"/>
              <a:cs typeface="Times New Roman"/>
              <a:sym typeface="Times New Roman"/>
            </a:endParaRPr>
          </a:p>
        </p:txBody>
      </p:sp>
      <p:pic>
        <p:nvPicPr>
          <p:cNvPr id="296" name="Google Shape;296;p16"/>
          <p:cNvPicPr preferRelativeResize="0"/>
          <p:nvPr/>
        </p:nvPicPr>
        <p:blipFill>
          <a:blip r:embed="rId3">
            <a:alphaModFix/>
          </a:blip>
          <a:stretch>
            <a:fillRect/>
          </a:stretch>
        </p:blipFill>
        <p:spPr>
          <a:xfrm>
            <a:off x="6192300" y="820350"/>
            <a:ext cx="2609190" cy="4170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7"/>
          <p:cNvSpPr txBox="1">
            <a:spLocks noGrp="1"/>
          </p:cNvSpPr>
          <p:nvPr>
            <p:ph type="title"/>
          </p:nvPr>
        </p:nvSpPr>
        <p:spPr>
          <a:xfrm>
            <a:off x="756400" y="61050"/>
            <a:ext cx="7760700" cy="6069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None/>
            </a:pPr>
            <a:r>
              <a:rPr lang="en" sz="2500">
                <a:solidFill>
                  <a:srgbClr val="000000"/>
                </a:solidFill>
                <a:latin typeface="Times New Roman"/>
                <a:ea typeface="Times New Roman"/>
                <a:cs typeface="Times New Roman"/>
                <a:sym typeface="Times New Roman"/>
              </a:rPr>
              <a:t>Data / Materials / Inputs</a:t>
            </a:r>
            <a:endParaRPr sz="2500">
              <a:solidFill>
                <a:srgbClr val="000000"/>
              </a:solidFill>
              <a:latin typeface="Times New Roman"/>
              <a:ea typeface="Times New Roman"/>
              <a:cs typeface="Times New Roman"/>
              <a:sym typeface="Times New Roman"/>
            </a:endParaRPr>
          </a:p>
        </p:txBody>
      </p:sp>
      <p:sp>
        <p:nvSpPr>
          <p:cNvPr id="302" name="Google Shape;302;p17"/>
          <p:cNvSpPr txBox="1">
            <a:spLocks noGrp="1"/>
          </p:cNvSpPr>
          <p:nvPr>
            <p:ph type="body" idx="1"/>
          </p:nvPr>
        </p:nvSpPr>
        <p:spPr>
          <a:xfrm>
            <a:off x="540775" y="754575"/>
            <a:ext cx="7697400" cy="4018500"/>
          </a:xfrm>
          <a:prstGeom prst="rect">
            <a:avLst/>
          </a:prstGeom>
          <a:noFill/>
          <a:ln>
            <a:noFill/>
          </a:ln>
        </p:spPr>
        <p:txBody>
          <a:bodyPr spcFirstLastPara="1" wrap="square" lIns="91425" tIns="91425" rIns="91425" bIns="91425" anchor="t" anchorCtr="0">
            <a:noAutofit/>
          </a:bodyPr>
          <a:lstStyle/>
          <a:p>
            <a:pPr marL="457200" lvl="0" indent="-323850" algn="just" rtl="0">
              <a:lnSpc>
                <a:spcPct val="150000"/>
              </a:lnSpc>
              <a:spcBef>
                <a:spcPts val="12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Trained on the use of the Fashion-MNIST dataset of 70,000 grayscale images in 10 fashion categories in training and testing.</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Normalised and reshaped the data and one-hot encoded the data to feed the ANN and CNN models.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Presumption of equal image size (28×28) as well as equal distribution of classes, so as to have effective model training (Nocentini et al. 2022).</a:t>
            </a:r>
            <a:endParaRPr sz="1500">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8"/>
          <p:cNvSpPr txBox="1">
            <a:spLocks noGrp="1"/>
          </p:cNvSpPr>
          <p:nvPr>
            <p:ph type="title"/>
          </p:nvPr>
        </p:nvSpPr>
        <p:spPr>
          <a:xfrm>
            <a:off x="756400" y="61050"/>
            <a:ext cx="7760700" cy="6069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None/>
            </a:pPr>
            <a:r>
              <a:rPr lang="en" sz="2500">
                <a:solidFill>
                  <a:srgbClr val="000000"/>
                </a:solidFill>
                <a:latin typeface="Times New Roman"/>
                <a:ea typeface="Times New Roman"/>
                <a:cs typeface="Times New Roman"/>
                <a:sym typeface="Times New Roman"/>
              </a:rPr>
              <a:t>Implementation / Process</a:t>
            </a:r>
            <a:endParaRPr sz="2500">
              <a:solidFill>
                <a:srgbClr val="000000"/>
              </a:solidFill>
              <a:latin typeface="Times New Roman"/>
              <a:ea typeface="Times New Roman"/>
              <a:cs typeface="Times New Roman"/>
              <a:sym typeface="Times New Roman"/>
            </a:endParaRPr>
          </a:p>
        </p:txBody>
      </p:sp>
      <p:sp>
        <p:nvSpPr>
          <p:cNvPr id="308" name="Google Shape;308;p18"/>
          <p:cNvSpPr txBox="1">
            <a:spLocks noGrp="1"/>
          </p:cNvSpPr>
          <p:nvPr>
            <p:ph type="body" idx="1"/>
          </p:nvPr>
        </p:nvSpPr>
        <p:spPr>
          <a:xfrm>
            <a:off x="363150" y="1125000"/>
            <a:ext cx="4641600" cy="4018500"/>
          </a:xfrm>
          <a:prstGeom prst="rect">
            <a:avLst/>
          </a:prstGeom>
          <a:noFill/>
          <a:ln>
            <a:noFill/>
          </a:ln>
        </p:spPr>
        <p:txBody>
          <a:bodyPr spcFirstLastPara="1" wrap="square" lIns="91425" tIns="91425" rIns="91425" bIns="91425" anchor="t" anchorCtr="0">
            <a:normAutofit fontScale="77500" lnSpcReduction="20000"/>
          </a:bodyPr>
          <a:lstStyle/>
          <a:p>
            <a:pPr marL="457200" lvl="0" indent="-319643" algn="just" rtl="0">
              <a:lnSpc>
                <a:spcPct val="150000"/>
              </a:lnSpc>
              <a:spcBef>
                <a:spcPts val="0"/>
              </a:spcBef>
              <a:spcAft>
                <a:spcPts val="0"/>
              </a:spcAft>
              <a:buClr>
                <a:srgbClr val="000000"/>
              </a:buClr>
              <a:buSzPct val="100000"/>
              <a:buFont typeface="Times New Roman"/>
              <a:buChar char="●"/>
            </a:pPr>
            <a:r>
              <a:rPr lang="en" sz="1850">
                <a:solidFill>
                  <a:srgbClr val="000000"/>
                </a:solidFill>
                <a:latin typeface="Times New Roman"/>
                <a:ea typeface="Times New Roman"/>
                <a:cs typeface="Times New Roman"/>
                <a:sym typeface="Times New Roman"/>
              </a:rPr>
              <a:t>The ANN is made of three fully connected layers, two hidden layers with 256 and 128 neurons with the help of the ReLU function, and a softmax output layer with 10 classes</a:t>
            </a:r>
            <a:endParaRPr sz="1850">
              <a:solidFill>
                <a:srgbClr val="000000"/>
              </a:solidFill>
              <a:latin typeface="Times New Roman"/>
              <a:ea typeface="Times New Roman"/>
              <a:cs typeface="Times New Roman"/>
              <a:sym typeface="Times New Roman"/>
            </a:endParaRPr>
          </a:p>
          <a:p>
            <a:pPr marL="457200" lvl="0" indent="-319643" algn="just" rtl="0">
              <a:lnSpc>
                <a:spcPct val="150000"/>
              </a:lnSpc>
              <a:spcBef>
                <a:spcPts val="0"/>
              </a:spcBef>
              <a:spcAft>
                <a:spcPts val="0"/>
              </a:spcAft>
              <a:buClr>
                <a:srgbClr val="000000"/>
              </a:buClr>
              <a:buSzPct val="100000"/>
              <a:buFont typeface="Times New Roman"/>
              <a:buChar char="●"/>
            </a:pPr>
            <a:r>
              <a:rPr lang="en" sz="1850">
                <a:solidFill>
                  <a:srgbClr val="000000"/>
                </a:solidFill>
                <a:latin typeface="Times New Roman"/>
                <a:ea typeface="Times New Roman"/>
                <a:cs typeface="Times New Roman"/>
                <a:sym typeface="Times New Roman"/>
              </a:rPr>
              <a:t>The ANN is made of three fully connected layers, two hidden layers with 256 and 128 neurons with the help of the ReLU function, and a softmax output layer with 10 classes</a:t>
            </a:r>
            <a:endParaRPr sz="1850">
              <a:solidFill>
                <a:srgbClr val="000000"/>
              </a:solidFill>
              <a:latin typeface="Times New Roman"/>
              <a:ea typeface="Times New Roman"/>
              <a:cs typeface="Times New Roman"/>
              <a:sym typeface="Times New Roman"/>
            </a:endParaRPr>
          </a:p>
          <a:p>
            <a:pPr marL="457200" lvl="0" indent="-319643" algn="just" rtl="0">
              <a:lnSpc>
                <a:spcPct val="150000"/>
              </a:lnSpc>
              <a:spcBef>
                <a:spcPts val="0"/>
              </a:spcBef>
              <a:spcAft>
                <a:spcPts val="0"/>
              </a:spcAft>
              <a:buClr>
                <a:srgbClr val="000000"/>
              </a:buClr>
              <a:buSzPct val="100000"/>
              <a:buFont typeface="Times New Roman"/>
              <a:buChar char="●"/>
            </a:pPr>
            <a:r>
              <a:rPr lang="en" sz="1850">
                <a:solidFill>
                  <a:srgbClr val="000000"/>
                </a:solidFill>
                <a:latin typeface="Times New Roman"/>
                <a:ea typeface="Times New Roman"/>
                <a:cs typeface="Times New Roman"/>
                <a:sym typeface="Times New Roman"/>
              </a:rPr>
              <a:t>The default Adam learning rate of 0.001 was used on both models. Other hyperparameters were ReLU activation in the hidden layers, and softmax in the outputs and accuracy as the main measure of evaluation.</a:t>
            </a:r>
            <a:endParaRPr sz="1850">
              <a:solidFill>
                <a:srgbClr val="000000"/>
              </a:solidFill>
              <a:latin typeface="Times New Roman"/>
              <a:ea typeface="Times New Roman"/>
              <a:cs typeface="Times New Roman"/>
              <a:sym typeface="Times New Roman"/>
            </a:endParaRPr>
          </a:p>
        </p:txBody>
      </p:sp>
      <p:pic>
        <p:nvPicPr>
          <p:cNvPr id="309" name="Google Shape;309;p18"/>
          <p:cNvPicPr preferRelativeResize="0"/>
          <p:nvPr/>
        </p:nvPicPr>
        <p:blipFill>
          <a:blip r:embed="rId3">
            <a:alphaModFix/>
          </a:blip>
          <a:stretch>
            <a:fillRect/>
          </a:stretch>
        </p:blipFill>
        <p:spPr>
          <a:xfrm>
            <a:off x="5255525" y="1417925"/>
            <a:ext cx="1835475" cy="1352900"/>
          </a:xfrm>
          <a:prstGeom prst="rect">
            <a:avLst/>
          </a:prstGeom>
          <a:noFill/>
          <a:ln>
            <a:noFill/>
          </a:ln>
        </p:spPr>
      </p:pic>
      <p:pic>
        <p:nvPicPr>
          <p:cNvPr id="310" name="Google Shape;310;p18"/>
          <p:cNvPicPr preferRelativeResize="0"/>
          <p:nvPr/>
        </p:nvPicPr>
        <p:blipFill>
          <a:blip r:embed="rId4">
            <a:alphaModFix/>
          </a:blip>
          <a:stretch>
            <a:fillRect/>
          </a:stretch>
        </p:blipFill>
        <p:spPr>
          <a:xfrm>
            <a:off x="5157150" y="3047962"/>
            <a:ext cx="1748600" cy="1746050"/>
          </a:xfrm>
          <a:prstGeom prst="rect">
            <a:avLst/>
          </a:prstGeom>
          <a:noFill/>
          <a:ln>
            <a:noFill/>
          </a:ln>
        </p:spPr>
      </p:pic>
      <p:pic>
        <p:nvPicPr>
          <p:cNvPr id="311" name="Google Shape;311;p18"/>
          <p:cNvPicPr preferRelativeResize="0"/>
          <p:nvPr/>
        </p:nvPicPr>
        <p:blipFill>
          <a:blip r:embed="rId5">
            <a:alphaModFix/>
          </a:blip>
          <a:stretch>
            <a:fillRect/>
          </a:stretch>
        </p:blipFill>
        <p:spPr>
          <a:xfrm>
            <a:off x="6992625" y="3246667"/>
            <a:ext cx="2150303" cy="1547325"/>
          </a:xfrm>
          <a:prstGeom prst="rect">
            <a:avLst/>
          </a:prstGeom>
          <a:noFill/>
          <a:ln>
            <a:noFill/>
          </a:ln>
        </p:spPr>
      </p:pic>
      <p:pic>
        <p:nvPicPr>
          <p:cNvPr id="312" name="Google Shape;312;p18"/>
          <p:cNvPicPr preferRelativeResize="0"/>
          <p:nvPr/>
        </p:nvPicPr>
        <p:blipFill>
          <a:blip r:embed="rId6">
            <a:alphaModFix/>
          </a:blip>
          <a:stretch>
            <a:fillRect/>
          </a:stretch>
        </p:blipFill>
        <p:spPr>
          <a:xfrm>
            <a:off x="7341777" y="1610450"/>
            <a:ext cx="1616076" cy="1160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9"/>
          <p:cNvSpPr txBox="1">
            <a:spLocks noGrp="1"/>
          </p:cNvSpPr>
          <p:nvPr>
            <p:ph type="title"/>
          </p:nvPr>
        </p:nvSpPr>
        <p:spPr>
          <a:xfrm>
            <a:off x="756400" y="61050"/>
            <a:ext cx="7760700" cy="6069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None/>
            </a:pPr>
            <a:r>
              <a:rPr lang="en" sz="2500">
                <a:solidFill>
                  <a:srgbClr val="000000"/>
                </a:solidFill>
                <a:latin typeface="Times New Roman"/>
                <a:ea typeface="Times New Roman"/>
                <a:cs typeface="Times New Roman"/>
                <a:sym typeface="Times New Roman"/>
              </a:rPr>
              <a:t>Results / Findings</a:t>
            </a:r>
            <a:endParaRPr sz="2500">
              <a:solidFill>
                <a:srgbClr val="000000"/>
              </a:solidFill>
              <a:latin typeface="Times New Roman"/>
              <a:ea typeface="Times New Roman"/>
              <a:cs typeface="Times New Roman"/>
              <a:sym typeface="Times New Roman"/>
            </a:endParaRPr>
          </a:p>
        </p:txBody>
      </p:sp>
      <p:sp>
        <p:nvSpPr>
          <p:cNvPr id="318" name="Google Shape;318;p19"/>
          <p:cNvSpPr txBox="1">
            <a:spLocks noGrp="1"/>
          </p:cNvSpPr>
          <p:nvPr>
            <p:ph type="body" idx="1"/>
          </p:nvPr>
        </p:nvSpPr>
        <p:spPr>
          <a:xfrm>
            <a:off x="363150" y="1125000"/>
            <a:ext cx="4513500" cy="4018500"/>
          </a:xfrm>
          <a:prstGeom prst="rect">
            <a:avLst/>
          </a:prstGeom>
          <a:noFill/>
          <a:ln>
            <a:noFill/>
          </a:ln>
        </p:spPr>
        <p:txBody>
          <a:bodyPr spcFirstLastPara="1" wrap="square" lIns="91425" tIns="91425" rIns="91425" bIns="91425" anchor="t" anchorCtr="0">
            <a:normAutofit fontScale="77500"/>
          </a:bodyPr>
          <a:lstStyle/>
          <a:p>
            <a:pPr marL="457200" lvl="0" indent="-319643" algn="just" rtl="0">
              <a:lnSpc>
                <a:spcPct val="150000"/>
              </a:lnSpc>
              <a:spcBef>
                <a:spcPts val="0"/>
              </a:spcBef>
              <a:spcAft>
                <a:spcPts val="0"/>
              </a:spcAft>
              <a:buClr>
                <a:srgbClr val="000000"/>
              </a:buClr>
              <a:buSzPct val="100000"/>
              <a:buFont typeface="Times New Roman"/>
              <a:buChar char="●"/>
            </a:pPr>
            <a:r>
              <a:rPr lang="en" sz="1850">
                <a:solidFill>
                  <a:srgbClr val="000000"/>
                </a:solidFill>
                <a:latin typeface="Times New Roman"/>
                <a:ea typeface="Times New Roman"/>
                <a:cs typeface="Times New Roman"/>
                <a:sym typeface="Times New Roman"/>
              </a:rPr>
              <a:t>The ANN model has a consistent improvement with the increase in the number of epochs and eventually reaches around 91.6 percent of training accuracy and 88 percent of validation accuracy.</a:t>
            </a:r>
            <a:endParaRPr sz="1850">
              <a:solidFill>
                <a:srgbClr val="000000"/>
              </a:solidFill>
              <a:latin typeface="Times New Roman"/>
              <a:ea typeface="Times New Roman"/>
              <a:cs typeface="Times New Roman"/>
              <a:sym typeface="Times New Roman"/>
            </a:endParaRPr>
          </a:p>
          <a:p>
            <a:pPr marL="457200" lvl="0" indent="-319643" algn="just" rtl="0">
              <a:lnSpc>
                <a:spcPct val="150000"/>
              </a:lnSpc>
              <a:spcBef>
                <a:spcPts val="0"/>
              </a:spcBef>
              <a:spcAft>
                <a:spcPts val="0"/>
              </a:spcAft>
              <a:buClr>
                <a:srgbClr val="000000"/>
              </a:buClr>
              <a:buSzPct val="100000"/>
              <a:buFont typeface="Times New Roman"/>
              <a:buChar char="●"/>
            </a:pPr>
            <a:r>
              <a:rPr lang="en" sz="1850">
                <a:solidFill>
                  <a:srgbClr val="000000"/>
                </a:solidFill>
                <a:latin typeface="Times New Roman"/>
                <a:ea typeface="Times New Roman"/>
                <a:cs typeface="Times New Roman"/>
                <a:sym typeface="Times New Roman"/>
              </a:rPr>
              <a:t>The CNN model has the limits of around 93.3% training and 90.7% validation accuracy, which is higher generalization in comparison to the ANN.</a:t>
            </a:r>
            <a:endParaRPr sz="1850">
              <a:solidFill>
                <a:srgbClr val="000000"/>
              </a:solidFill>
              <a:latin typeface="Times New Roman"/>
              <a:ea typeface="Times New Roman"/>
              <a:cs typeface="Times New Roman"/>
              <a:sym typeface="Times New Roman"/>
            </a:endParaRPr>
          </a:p>
          <a:p>
            <a:pPr marL="457200" lvl="0" indent="-319643" algn="just" rtl="0">
              <a:lnSpc>
                <a:spcPct val="150000"/>
              </a:lnSpc>
              <a:spcBef>
                <a:spcPts val="0"/>
              </a:spcBef>
              <a:spcAft>
                <a:spcPts val="0"/>
              </a:spcAft>
              <a:buClr>
                <a:srgbClr val="000000"/>
              </a:buClr>
              <a:buSzPct val="100000"/>
              <a:buFont typeface="Times New Roman"/>
              <a:buChar char="●"/>
            </a:pPr>
            <a:r>
              <a:rPr lang="en" sz="1850">
                <a:solidFill>
                  <a:srgbClr val="000000"/>
                </a:solidFill>
                <a:latin typeface="Times New Roman"/>
                <a:ea typeface="Times New Roman"/>
                <a:cs typeface="Times New Roman"/>
                <a:sym typeface="Times New Roman"/>
              </a:rPr>
              <a:t>The ANN scored 88.4 per cent in the test, with good performance in the majority of classes.</a:t>
            </a:r>
            <a:endParaRPr sz="1850">
              <a:solidFill>
                <a:srgbClr val="000000"/>
              </a:solidFill>
              <a:latin typeface="Times New Roman"/>
              <a:ea typeface="Times New Roman"/>
              <a:cs typeface="Times New Roman"/>
              <a:sym typeface="Times New Roman"/>
            </a:endParaRPr>
          </a:p>
          <a:p>
            <a:pPr marL="457200" lvl="0" indent="-319643" algn="just" rtl="0">
              <a:lnSpc>
                <a:spcPct val="150000"/>
              </a:lnSpc>
              <a:spcBef>
                <a:spcPts val="0"/>
              </a:spcBef>
              <a:spcAft>
                <a:spcPts val="0"/>
              </a:spcAft>
              <a:buClr>
                <a:srgbClr val="000000"/>
              </a:buClr>
              <a:buSzPct val="100000"/>
              <a:buFont typeface="Times New Roman"/>
              <a:buChar char="●"/>
            </a:pPr>
            <a:r>
              <a:rPr lang="en" sz="1850">
                <a:solidFill>
                  <a:srgbClr val="000000"/>
                </a:solidFill>
                <a:latin typeface="Times New Roman"/>
                <a:ea typeface="Times New Roman"/>
                <a:cs typeface="Times New Roman"/>
                <a:sym typeface="Times New Roman"/>
              </a:rPr>
              <a:t>The CNN had a test percentage of 90.6, making it better than the ANN. </a:t>
            </a:r>
            <a:endParaRPr sz="1850">
              <a:solidFill>
                <a:srgbClr val="000000"/>
              </a:solidFill>
              <a:latin typeface="Times New Roman"/>
              <a:ea typeface="Times New Roman"/>
              <a:cs typeface="Times New Roman"/>
              <a:sym typeface="Times New Roman"/>
            </a:endParaRPr>
          </a:p>
        </p:txBody>
      </p:sp>
      <p:pic>
        <p:nvPicPr>
          <p:cNvPr id="319" name="Google Shape;319;p19"/>
          <p:cNvPicPr preferRelativeResize="0"/>
          <p:nvPr/>
        </p:nvPicPr>
        <p:blipFill>
          <a:blip r:embed="rId3">
            <a:alphaModFix/>
          </a:blip>
          <a:stretch>
            <a:fillRect/>
          </a:stretch>
        </p:blipFill>
        <p:spPr>
          <a:xfrm>
            <a:off x="5029050" y="820350"/>
            <a:ext cx="3230426" cy="1484750"/>
          </a:xfrm>
          <a:prstGeom prst="rect">
            <a:avLst/>
          </a:prstGeom>
          <a:noFill/>
          <a:ln>
            <a:noFill/>
          </a:ln>
        </p:spPr>
      </p:pic>
      <p:pic>
        <p:nvPicPr>
          <p:cNvPr id="320" name="Google Shape;320;p19"/>
          <p:cNvPicPr preferRelativeResize="0"/>
          <p:nvPr/>
        </p:nvPicPr>
        <p:blipFill>
          <a:blip r:embed="rId4">
            <a:alphaModFix/>
          </a:blip>
          <a:stretch>
            <a:fillRect/>
          </a:stretch>
        </p:blipFill>
        <p:spPr>
          <a:xfrm>
            <a:off x="4943675" y="2399163"/>
            <a:ext cx="1811525" cy="1207675"/>
          </a:xfrm>
          <a:prstGeom prst="rect">
            <a:avLst/>
          </a:prstGeom>
          <a:noFill/>
          <a:ln>
            <a:noFill/>
          </a:ln>
        </p:spPr>
      </p:pic>
      <p:pic>
        <p:nvPicPr>
          <p:cNvPr id="321" name="Google Shape;321;p19"/>
          <p:cNvPicPr preferRelativeResize="0"/>
          <p:nvPr/>
        </p:nvPicPr>
        <p:blipFill>
          <a:blip r:embed="rId5">
            <a:alphaModFix/>
          </a:blip>
          <a:stretch>
            <a:fillRect/>
          </a:stretch>
        </p:blipFill>
        <p:spPr>
          <a:xfrm>
            <a:off x="5552849" y="3758999"/>
            <a:ext cx="3016100" cy="1384500"/>
          </a:xfrm>
          <a:prstGeom prst="rect">
            <a:avLst/>
          </a:prstGeom>
          <a:noFill/>
          <a:ln>
            <a:noFill/>
          </a:ln>
        </p:spPr>
      </p:pic>
      <p:pic>
        <p:nvPicPr>
          <p:cNvPr id="322" name="Google Shape;322;p19"/>
          <p:cNvPicPr preferRelativeResize="0"/>
          <p:nvPr/>
        </p:nvPicPr>
        <p:blipFill>
          <a:blip r:embed="rId6">
            <a:alphaModFix/>
          </a:blip>
          <a:stretch>
            <a:fillRect/>
          </a:stretch>
        </p:blipFill>
        <p:spPr>
          <a:xfrm>
            <a:off x="6902016" y="2428204"/>
            <a:ext cx="1878302" cy="1207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0"/>
          <p:cNvSpPr txBox="1">
            <a:spLocks noGrp="1"/>
          </p:cNvSpPr>
          <p:nvPr>
            <p:ph type="title"/>
          </p:nvPr>
        </p:nvSpPr>
        <p:spPr>
          <a:xfrm>
            <a:off x="756400" y="61050"/>
            <a:ext cx="7760700" cy="6069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None/>
            </a:pPr>
            <a:r>
              <a:rPr lang="en" sz="2500">
                <a:solidFill>
                  <a:srgbClr val="000000"/>
                </a:solidFill>
                <a:latin typeface="Times New Roman"/>
                <a:ea typeface="Times New Roman"/>
                <a:cs typeface="Times New Roman"/>
                <a:sym typeface="Times New Roman"/>
              </a:rPr>
              <a:t>Discussion / Interpretation</a:t>
            </a:r>
            <a:endParaRPr sz="2500">
              <a:solidFill>
                <a:srgbClr val="000000"/>
              </a:solidFill>
              <a:latin typeface="Times New Roman"/>
              <a:ea typeface="Times New Roman"/>
              <a:cs typeface="Times New Roman"/>
              <a:sym typeface="Times New Roman"/>
            </a:endParaRPr>
          </a:p>
        </p:txBody>
      </p:sp>
      <p:sp>
        <p:nvSpPr>
          <p:cNvPr id="328" name="Google Shape;328;p20"/>
          <p:cNvSpPr txBox="1">
            <a:spLocks noGrp="1"/>
          </p:cNvSpPr>
          <p:nvPr>
            <p:ph type="body" idx="1"/>
          </p:nvPr>
        </p:nvSpPr>
        <p:spPr>
          <a:xfrm>
            <a:off x="540775" y="754575"/>
            <a:ext cx="7697400" cy="4018500"/>
          </a:xfrm>
          <a:prstGeom prst="rect">
            <a:avLst/>
          </a:prstGeom>
          <a:noFill/>
          <a:ln>
            <a:noFill/>
          </a:ln>
        </p:spPr>
        <p:txBody>
          <a:bodyPr spcFirstLastPara="1" wrap="square" lIns="91425" tIns="91425" rIns="91425" bIns="91425" anchor="t" anchorCtr="0">
            <a:noAutofit/>
          </a:bodyPr>
          <a:lstStyle/>
          <a:p>
            <a:pPr marL="457200" lvl="0" indent="-323850" algn="just" rtl="0">
              <a:lnSpc>
                <a:spcPct val="150000"/>
              </a:lnSpc>
              <a:spcBef>
                <a:spcPts val="12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CNN performed a lot better than the ANN, with 90.6 and 88.4 test accuracy, respectively. </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convolutional layers of CNN are used to detect spatial and texture features and enhance the recognition of detailed clothing features (Bbouzidi et al. 2024). </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Nevertheless, the two models had poor performance with visually similar categories, such as Shirt, T-shirt and Coat, because of overlapping pixel structure. </a:t>
            </a:r>
            <a:endParaRPr sz="150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1"/>
          <p:cNvSpPr txBox="1">
            <a:spLocks noGrp="1"/>
          </p:cNvSpPr>
          <p:nvPr>
            <p:ph type="title"/>
          </p:nvPr>
        </p:nvSpPr>
        <p:spPr>
          <a:xfrm>
            <a:off x="756400" y="61050"/>
            <a:ext cx="7760700" cy="6069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None/>
            </a:pPr>
            <a:r>
              <a:rPr lang="en" sz="2500">
                <a:solidFill>
                  <a:srgbClr val="000000"/>
                </a:solidFill>
                <a:latin typeface="Times New Roman"/>
                <a:ea typeface="Times New Roman"/>
                <a:cs typeface="Times New Roman"/>
                <a:sym typeface="Times New Roman"/>
              </a:rPr>
              <a:t>Conclusion / Summary	</a:t>
            </a:r>
            <a:endParaRPr sz="2500">
              <a:solidFill>
                <a:srgbClr val="000000"/>
              </a:solidFill>
              <a:latin typeface="Times New Roman"/>
              <a:ea typeface="Times New Roman"/>
              <a:cs typeface="Times New Roman"/>
              <a:sym typeface="Times New Roman"/>
            </a:endParaRPr>
          </a:p>
        </p:txBody>
      </p:sp>
      <p:sp>
        <p:nvSpPr>
          <p:cNvPr id="334" name="Google Shape;334;p21"/>
          <p:cNvSpPr txBox="1">
            <a:spLocks noGrp="1"/>
          </p:cNvSpPr>
          <p:nvPr>
            <p:ph type="body" idx="1"/>
          </p:nvPr>
        </p:nvSpPr>
        <p:spPr>
          <a:xfrm>
            <a:off x="467925" y="925325"/>
            <a:ext cx="7697400" cy="4018500"/>
          </a:xfrm>
          <a:prstGeom prst="rect">
            <a:avLst/>
          </a:prstGeom>
          <a:noFill/>
          <a:ln>
            <a:noFill/>
          </a:ln>
        </p:spPr>
        <p:txBody>
          <a:bodyPr spcFirstLastPara="1" wrap="square" lIns="91425" tIns="91425" rIns="91425" bIns="91425" anchor="t" anchorCtr="0">
            <a:noAutofit/>
          </a:bodyPr>
          <a:lstStyle/>
          <a:p>
            <a:pPr marL="457200" lvl="0" indent="-323850" algn="just" rtl="0">
              <a:lnSpc>
                <a:spcPct val="150000"/>
              </a:lnSpc>
              <a:spcBef>
                <a:spcPts val="12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Its performance on the model is summarised, with CNN having a higher accuracy (90.6) compared to ANN (88.3).</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Shows superior spatial feature acquisition and fewer cases of misclassification by CNN.</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Finds that CNN is more effective in image-based classification, such as Fashion-MNIST.</a:t>
            </a:r>
            <a:endParaRPr sz="1500">
              <a:solidFill>
                <a:srgbClr val="000000"/>
              </a:solidFill>
              <a:latin typeface="Times New Roman"/>
              <a:ea typeface="Times New Roman"/>
              <a:cs typeface="Times New Roman"/>
              <a:sym typeface="Times New Roman"/>
            </a:endParaRPr>
          </a:p>
          <a:p>
            <a:pPr marL="0" lvl="0" indent="0" algn="just" rtl="0">
              <a:lnSpc>
                <a:spcPct val="150000"/>
              </a:lnSpc>
              <a:spcBef>
                <a:spcPts val="1200"/>
              </a:spcBef>
              <a:spcAft>
                <a:spcPts val="1200"/>
              </a:spcAft>
              <a:buNone/>
            </a:pPr>
            <a:endParaRPr sz="150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2"/>
          <p:cNvSpPr txBox="1">
            <a:spLocks noGrp="1"/>
          </p:cNvSpPr>
          <p:nvPr>
            <p:ph type="title"/>
          </p:nvPr>
        </p:nvSpPr>
        <p:spPr>
          <a:xfrm>
            <a:off x="756400" y="61050"/>
            <a:ext cx="7760700" cy="6069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None/>
            </a:pPr>
            <a:r>
              <a:rPr lang="en" sz="2500">
                <a:solidFill>
                  <a:srgbClr val="000000"/>
                </a:solidFill>
                <a:latin typeface="Times New Roman"/>
                <a:ea typeface="Times New Roman"/>
                <a:cs typeface="Times New Roman"/>
                <a:sym typeface="Times New Roman"/>
              </a:rPr>
              <a:t>Future Work / Acknowledgments</a:t>
            </a:r>
            <a:endParaRPr sz="2500">
              <a:solidFill>
                <a:srgbClr val="000000"/>
              </a:solidFill>
              <a:latin typeface="Times New Roman"/>
              <a:ea typeface="Times New Roman"/>
              <a:cs typeface="Times New Roman"/>
              <a:sym typeface="Times New Roman"/>
            </a:endParaRPr>
          </a:p>
        </p:txBody>
      </p:sp>
      <p:sp>
        <p:nvSpPr>
          <p:cNvPr id="340" name="Google Shape;340;p22"/>
          <p:cNvSpPr txBox="1">
            <a:spLocks noGrp="1"/>
          </p:cNvSpPr>
          <p:nvPr>
            <p:ph type="body" idx="1"/>
          </p:nvPr>
        </p:nvSpPr>
        <p:spPr>
          <a:xfrm>
            <a:off x="467925" y="925325"/>
            <a:ext cx="7697400" cy="40185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0"/>
              </a:spcAft>
              <a:buNone/>
            </a:pPr>
            <a:r>
              <a:rPr lang="en" sz="1500">
                <a:solidFill>
                  <a:srgbClr val="000000"/>
                </a:solidFill>
                <a:latin typeface="Times New Roman"/>
                <a:ea typeface="Times New Roman"/>
                <a:cs typeface="Times New Roman"/>
                <a:sym typeface="Times New Roman"/>
              </a:rPr>
              <a:t>●	Recommends further work like data augmentation, hyperparameter optimization and more profound CNN designs (Sumera et al. 2022).</a:t>
            </a:r>
            <a:endParaRPr sz="1500">
              <a:solidFill>
                <a:srgbClr val="000000"/>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 sz="1500">
                <a:solidFill>
                  <a:srgbClr val="000000"/>
                </a:solidFill>
                <a:latin typeface="Times New Roman"/>
                <a:ea typeface="Times New Roman"/>
                <a:cs typeface="Times New Roman"/>
                <a:sym typeface="Times New Roman"/>
              </a:rPr>
              <a:t>●	Suggests the transfer learning exploration to improve accuracy.</a:t>
            </a:r>
            <a:endParaRPr sz="1500">
              <a:solidFill>
                <a:srgbClr val="000000"/>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 sz="1500">
                <a:solidFill>
                  <a:srgbClr val="000000"/>
                </a:solidFill>
                <a:latin typeface="Times New Roman"/>
                <a:ea typeface="Times New Roman"/>
                <a:cs typeface="Times New Roman"/>
                <a:sym typeface="Times New Roman"/>
              </a:rPr>
              <a:t>●	Credits successful experimentation with the use of Google Colab, TensorFlow, and the Fashion-MNIST dataset.</a:t>
            </a:r>
            <a:endParaRPr sz="1500">
              <a:solidFill>
                <a:srgbClr val="000000"/>
              </a:solidFill>
              <a:latin typeface="Times New Roman"/>
              <a:ea typeface="Times New Roman"/>
              <a:cs typeface="Times New Roman"/>
              <a:sym typeface="Times New Roman"/>
            </a:endParaRPr>
          </a:p>
          <a:p>
            <a:pPr marL="0" lvl="0" indent="0" algn="just" rtl="0">
              <a:lnSpc>
                <a:spcPct val="150000"/>
              </a:lnSpc>
              <a:spcBef>
                <a:spcPts val="1200"/>
              </a:spcBef>
              <a:spcAft>
                <a:spcPts val="1200"/>
              </a:spcAft>
              <a:buNone/>
            </a:pPr>
            <a:endParaRPr sz="150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3"/>
          <p:cNvSpPr txBox="1">
            <a:spLocks noGrp="1"/>
          </p:cNvSpPr>
          <p:nvPr>
            <p:ph type="title"/>
          </p:nvPr>
        </p:nvSpPr>
        <p:spPr>
          <a:xfrm>
            <a:off x="624125" y="61050"/>
            <a:ext cx="7760700" cy="6069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None/>
            </a:pPr>
            <a:r>
              <a:rPr lang="en" sz="2500">
                <a:solidFill>
                  <a:srgbClr val="000000"/>
                </a:solidFill>
                <a:latin typeface="Times New Roman"/>
                <a:ea typeface="Times New Roman"/>
                <a:cs typeface="Times New Roman"/>
                <a:sym typeface="Times New Roman"/>
              </a:rPr>
              <a:t>References</a:t>
            </a:r>
            <a:endParaRPr sz="2500">
              <a:solidFill>
                <a:srgbClr val="000000"/>
              </a:solidFill>
              <a:latin typeface="Times New Roman"/>
              <a:ea typeface="Times New Roman"/>
              <a:cs typeface="Times New Roman"/>
              <a:sym typeface="Times New Roman"/>
            </a:endParaRPr>
          </a:p>
        </p:txBody>
      </p:sp>
      <p:sp>
        <p:nvSpPr>
          <p:cNvPr id="346" name="Google Shape;346;p23"/>
          <p:cNvSpPr txBox="1">
            <a:spLocks noGrp="1"/>
          </p:cNvSpPr>
          <p:nvPr>
            <p:ph type="body" idx="1"/>
          </p:nvPr>
        </p:nvSpPr>
        <p:spPr>
          <a:xfrm>
            <a:off x="69650" y="667950"/>
            <a:ext cx="8447400" cy="4193100"/>
          </a:xfrm>
          <a:prstGeom prst="rect">
            <a:avLst/>
          </a:prstGeom>
          <a:noFill/>
          <a:ln>
            <a:noFill/>
          </a:ln>
        </p:spPr>
        <p:txBody>
          <a:bodyPr spcFirstLastPara="1" wrap="square" lIns="91425" tIns="91425" rIns="91425" bIns="91425" anchor="t" anchorCtr="0">
            <a:no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Xhaferra, E., Cina, E. and Toti, L., 2022, October. Classification of standard fashion MNIST dataset using deep learning based CNN algorithms. In 2022 international symposium on multidisciplinary studies and innovative technologies (ISMSIT) (pp. 494-498). IEEE.</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Nocentini, O., Kim, J., Bashir, M.Z. and Cavallo, F., 2022. Image classification using multiple convolutional neural networks on the fashion-MNIST dataset. Sensors, 22(23), p.9544.</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Bbouzidi, S., Hcini, G., Jdey, I. and Drira, F., 2024. Convolutional neural networks and vision transformers for fashion mnist classification: A literature review. arXiv preprint arXiv:2406.03478.</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Sumera, S.R., Anjum, N. and Vaidehi, K., 2022. Implementation of CNN and ANN for Fashion-MNIST-Dataset using Different Optimizers. Indian Journal of Science and Technology, 15(47), pp.2639-2645.	</a:t>
            </a:r>
            <a:endParaRPr sz="1500">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4"/>
          <p:cNvSpPr txBox="1">
            <a:spLocks noGrp="1"/>
          </p:cNvSpPr>
          <p:nvPr>
            <p:ph type="title"/>
          </p:nvPr>
        </p:nvSpPr>
        <p:spPr>
          <a:xfrm>
            <a:off x="691650" y="2177225"/>
            <a:ext cx="7760700" cy="6069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None/>
            </a:pPr>
            <a:r>
              <a:rPr lang="en" sz="2500">
                <a:solidFill>
                  <a:srgbClr val="000000"/>
                </a:solidFill>
                <a:latin typeface="Times New Roman"/>
                <a:ea typeface="Times New Roman"/>
                <a:cs typeface="Times New Roman"/>
                <a:sym typeface="Times New Roman"/>
              </a:rPr>
              <a:t>THANK YOU…</a:t>
            </a:r>
            <a:endParaRPr sz="250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1127</Words>
  <Application>Microsoft Office PowerPoint</Application>
  <PresentationFormat>On-screen Show (16:9)</PresentationFormat>
  <Paragraphs>52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Maven Pro</vt:lpstr>
      <vt:lpstr>Times New Roman</vt:lpstr>
      <vt:lpstr>Nunito</vt:lpstr>
      <vt:lpstr>Momentum</vt:lpstr>
      <vt:lpstr>Module Name - Artificial Neural Networks &amp; NLP   Module Code - CSIP5103   A Neural Network Model for Fashion-MNIST  Image Classification – Presentation    Student ID - P2938154    Student Name - Patel jay Maheshkumar   </vt:lpstr>
      <vt:lpstr>Introduction</vt:lpstr>
      <vt:lpstr>Objectives / Goals </vt:lpstr>
      <vt:lpstr>Methodology / Approach</vt:lpstr>
      <vt:lpstr>Data / Materials / Inputs</vt:lpstr>
      <vt:lpstr>Implementation / Process</vt:lpstr>
      <vt:lpstr>Results / Findings</vt:lpstr>
      <vt:lpstr>Discussion / Interpretation</vt:lpstr>
      <vt:lpstr>Conclusion / Summary </vt:lpstr>
      <vt:lpstr>Future Work / Acknowledgments</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Name - Artificial Neural Networks &amp; NLP   Module Code - CSIP5103   A Neural Network Model for Fashion-MNIST  Image Classification – Presentation    Student ID - P2938154    Student Name - Patel jay Maheshkumar</dc:title>
  <dc:creator>Tirth</dc:creator>
  <cp:lastModifiedBy>User</cp:lastModifiedBy>
  <cp:revision>2</cp:revision>
  <dcterms:modified xsi:type="dcterms:W3CDTF">2025-11-05T12:57:24Z</dcterms:modified>
</cp:coreProperties>
</file>